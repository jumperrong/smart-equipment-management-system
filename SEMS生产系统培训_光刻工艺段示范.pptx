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000" b="0">
                <a:solidFill>
                  <a:srgbClr val="CCDDEE"/>
                </a:solidFill>
                <a:latin typeface="微软雅黑"/>
              </a:defRPr>
            </a:pPr>
            <a:r>
              <a:t>SEMS 生产管理系统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从定义到使用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200" b="0">
                <a:solidFill>
                  <a:srgbClr val="FFD700"/>
                </a:solidFill>
                <a:latin typeface="微软雅黑"/>
              </a:defRPr>
            </a:pPr>
            <a:r>
              <a:t>—— 以半导体光刻工艺段为示范 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972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工段库定义  /  工艺路由设计  /  生产订单计划  /  派工执行  /  数据沉淀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培训对象：工艺工程师 / 生产管理员 / 班组长 / 操作员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0">
                <a:solidFill>
                  <a:srgbClr val="595959"/>
                </a:solidFill>
                <a:latin typeface="微软雅黑"/>
              </a:defRPr>
            </a:pPr>
            <a:r>
              <a:t>本次培训将沿光刻工艺段从 0 到 1 走完全流程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1164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微软雅黑"/>
              </a:defRPr>
            </a:pPr>
            <a:r>
              <a:t>总体流程概览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7164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5 个阶段、4 类角色、1 条数据主线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68296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88296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微软雅黑"/>
              </a:defRPr>
            </a:pPr>
            <a:r>
              <a:t>阶段一：初始化基础数据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48296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设备台账 / 工艺数据采集表单模板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44952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64952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微软雅黑"/>
              </a:defRPr>
            </a:pPr>
            <a:r>
              <a:t>阶段二：工艺设计（核心）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2495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定义光刻工段 + 编排产品工艺路线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721608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41608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微软雅黑"/>
              </a:defRPr>
            </a:pPr>
            <a:r>
              <a:t>阶段三：计划——生产订单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0160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MO 创建与下发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18264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微软雅黑"/>
              </a:defRPr>
            </a:pPr>
            <a:r>
              <a:t>阶段四：执行——派工 + 自动初始化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778264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本系统最具差异化的环节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9492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微软雅黑"/>
              </a:defRPr>
            </a:pPr>
            <a:r>
              <a:t>阶段五：填写工艺数据 + 报工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4549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操作员录入 + 状态联动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751576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71576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微软雅黑"/>
              </a:defRPr>
            </a:pPr>
            <a:r>
              <a:t>全链路追溯能力 + 设计要点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6131576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数据主线 + 关键设计决策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01  总体流程概览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光刻工艺段的全生命周期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5 个阶段串成数据主线，各阶段由不同角色负责，确保工艺定义与生产执行解耦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011680" cy="14630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初始化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——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管理员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194560"/>
            <a:ext cx="164592" cy="4572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42032" y="1691640"/>
            <a:ext cx="2011680" cy="1463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工艺设计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——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工艺工程师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53712" y="2194560"/>
            <a:ext cx="164592" cy="4572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18304" y="1691640"/>
            <a:ext cx="2011680" cy="1463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计划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——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计划员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29984" y="2194560"/>
            <a:ext cx="164592" cy="4572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94576" y="1691640"/>
            <a:ext cx="2011680" cy="14630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执行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——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班组长/操作员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06256" y="2194560"/>
            <a:ext cx="164592" cy="4572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70848" y="1691640"/>
            <a:ext cx="2011680" cy="146304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沉淀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——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QA/工艺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▼ 数据主线（一条不可断的链）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11430000" cy="640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Equipment  →  FormTemplate  →  ProcessSection  →  Routing / RoutingStep  →  ProductionOrder  →  Dispatch  →  FormRecord  →  LaborReport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关键能力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工段库独立可复用，一处定义全局生效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派工创建时自动按工段模板初始化空白工艺数据表单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派工状态与生产订单状态双向联动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设备 DOWN 自动暂停派工 + 自动创建维修工单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工艺记录审核后不可原地改，修正走留痕 Amendment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02  阶段一：初始化基础数据（1/2）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设备台账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光刻工段对应一组光刻机 + 配套显影机，归入同一设备组字符串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微软雅黑"/>
              </a:defRPr>
            </a:pPr>
            <a:r>
              <a:t>设备组 litho_group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76072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设备组：litho_group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├─ LITHO-001  ASML PAS5500  状态：RUNNING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├─ LITHO-002  ASML PAS5500  状态：RUNNING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└─ DEV-001    东京精密显影机  状态：RUNNING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关键设计：设备组绑定在模板层，具体设备在执行层选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572000"/>
            <a:ext cx="5486400" cy="164592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微软雅黑"/>
              </a:defRPr>
            </a:pPr>
            <a:r>
              <a:t>模板层（工段定义时）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512064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微软雅黑"/>
              </a:defRPr>
            </a:pPr>
            <a:r>
              <a:t>ProcessSection.equipment_group = "litho_group"</a:t>
            </a:r>
            <a:br/>
            <a:r>
              <a:t>同组设备共用同一套工艺参数采集模板，</a:t>
            </a:r>
            <a:br/>
            <a:r>
              <a:t>管理员不必为每台机器重复定义工段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5486400" cy="164592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66344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执行层（派工时选）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74920"/>
            <a:ext cx="512064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微软雅黑"/>
              </a:defRPr>
            </a:pPr>
            <a:r>
              <a:t>Dispatch.equipment_id = 25  (LITHO-001)</a:t>
            </a:r>
            <a:br/>
            <a:r>
              <a:t>生产人员根据当时哪台空闲、哪台资质可用，</a:t>
            </a:r>
            <a:br/>
            <a:r>
              <a:t>在组内选一台具体设备执行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02  阶段一：初始化基础数据（2/2）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工艺数据采集表单模板 FormTemplate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光刻工艺必须采集的关键参数（按 SPC 规范），通过 FormTemplate 定义字段结构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7772400" cy="48463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"name": "光刻工艺参数记录表",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"code": "FT-LITHO-01",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"category": "record",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"field_schema": [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{"key":"exposure_energy","type":"number","label":"曝光能量(mJ/cm²)","required":true,"unit":"mJ/cm²","min":30,"max":80,"seq":1},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{"key":"focus_offset",   "type":"number","label":"焦距偏移(μm)",    "required":true,"unit":"μm","min":-2,"max":2,"seq":2},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{"key":"alignment_error","type":"number","label":"套刻误差(nm)",     "required":true,"unit":"nm","min":0,"max":50,"seq":3},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{"key":"develop_time",  "type":"number","label":"显影时间(秒)",      "required":true,"unit":"s","default_value":60,"seq":4},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{"key":"reticle_id",     "type":"text",  "label":"掩膜版编号",        "required":true,"seq":5},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{"key":"abnormal",       "type":"radio", "label":"是否异常",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   "options":[{"label":"正常","value":"NORMAL"},{"label":"异常","value":"ABNORMAL"}],"seq":6}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]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4630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字段类型支持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74519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text 文本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textarea 长文本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number 数值（带 min/max 范围）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select 下拉单选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radio 单选按钮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date / datetime / time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boolean 布尔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1148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校验能力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526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required 必填校验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min/max 数值范围校验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default_value 预填默认值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options 选项约束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提交时一次性校验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03  阶段二：工艺设计（1/2）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定义光刻工段 ProcessSection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工段是管理员维护的可复用工艺单元，绑定设备组 + 关联工艺数据采集模板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11430000" cy="2926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POST /api/v1/process-sections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"name": "光刻工段",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"code": "SEC-LITHO",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"equipment_group": "litho_group",        ← 模板层：允许这一组设备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"form_template_id": 5,                    ← 关联"光刻工艺参数记录表"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"standard_cycle_min": 45.0,              ← 标准工时 45 分钟/片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"theoretical_uph": 60,                    ← 理论每小时 60 片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"required_skill_level": "L3",             ← 需 L3 光刻操作资质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"acceptance_criteria": "CD 偏差±2nm,套刻误差&lt;35nm",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"description": "光刻曝光+显影主工序"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工段库的核心价值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独立工段库：ProcessSection 主表，被多个产品的多道工序引用，一处改全局生效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引用阻断硬删除：被 RoutingStep/Dispatch 引用时禁止 delete，只能 is_active=False 停用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模板停用温和降级：关联的 FormTemplate 停用后，新派工不再自动初始化表单，但不阻断派工本身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03  阶段二：工艺设计（2/2）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编排产品工艺路线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某 28nm 工艺产品定义 5 道工序，光刻是第 30 道，引用上面定义的工段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11430000" cy="40233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POST /api/v1/routings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"product_id": 12,                        ← 28nm 工艺产品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"version": "v1.0",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"steps": [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 {"seq": 10, "step_name": "氧化",     "process_section_id": 5},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 {"seq": 20, "step_name": "CVD沉积",  "process_section_id": 7},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 {"seq": 30, "step_name": "光刻",     "process_section_id": 9},   ← 引用光刻工段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 {"seq": 40, "step_name": "刻蚀",     "process_section_id": 11},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 {"seq": 50, "step_name": "去胶",     "process_section_id": 13}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]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POST /api/v1/routings/{id}/release        ← 路由必须生效才可用于生产订单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                                        （同产品其他生效版本自动作废）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2356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微软雅黑"/>
              </a:defRPr>
            </a:pPr>
            <a:r>
              <a:t>路由状态机：DRAFT → EFFECTIVE → OBSOLETE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微软雅黑"/>
              </a:defRPr>
            </a:pPr>
            <a:r>
              <a:t>EFFECTIVE 状态的路由不可删除（须先作废）；同产品同时只允许一个 EFFECTIVE 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04  阶段三：计划——生产订单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ProductionOrder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生产计划员按客户 PO 开生产订单，初始 DRAFT 状态，下发后才能派工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7132320" cy="38404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POST /api/v1/production-orders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"product_id": 12,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"routing_id": 4,                          ← 采用生效的 v1.0 路由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"batch_no": "W20260818-01",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"plan_qty": 1000,                         ← 1000 片晶圆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"planned_start": "2026-08-18T08:00:00",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"planned_end":   "2026-08-18T20:00:00",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"customer_po": "CUST-PO-2026-001"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→ 返回 mo_no: MO-20260818-0001, status: DRAFT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PUT /api/v1/production-orders/6  { "status": "RELEASED" }     ← 下发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0876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MO 状态机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965960"/>
            <a:ext cx="4114800" cy="41148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DRAFT  ·  草稿</a:t>
            </a:r>
          </a:p>
        </p:txBody>
      </p:sp>
      <p:sp>
        <p:nvSpPr>
          <p:cNvPr id="9" name="Down Arrow 8"/>
          <p:cNvSpPr/>
          <p:nvPr/>
        </p:nvSpPr>
        <p:spPr>
          <a:xfrm>
            <a:off x="9509760" y="2377440"/>
            <a:ext cx="457200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2606040"/>
            <a:ext cx="4114800" cy="4114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RELEASED  ·  已下发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509760" y="3017520"/>
            <a:ext cx="457200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0" y="3246120"/>
            <a:ext cx="4114800" cy="4114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IN_PROGRESS  ·  开工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509760" y="3657600"/>
            <a:ext cx="457200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3886200"/>
            <a:ext cx="4114800" cy="4114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COMPLETED  ·  完工待结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509760" y="4297680"/>
            <a:ext cx="457200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4526280"/>
            <a:ext cx="4114800" cy="4114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CLOSED  ·  结案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349240"/>
            <a:ext cx="411480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1100" b="0">
                <a:solidFill>
                  <a:srgbClr val="1F4E79"/>
                </a:solidFill>
                <a:latin typeface="微软雅黑"/>
              </a:defRPr>
            </a:pPr>
            <a:r>
              <a:t>状态联动：派工 RUNNING 时</a:t>
            </a:r>
            <a:br/>
            <a:r>
              <a:t>MO 自动从 RELEASED → IN_PROGRESS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05  阶段四：执行——派工 Dispatch（1/2）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本系统最具差异化的环节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派工创建时，系统自动按工段挂接的模板初始化一份空白工艺数据表单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1430000" cy="24688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POST /api/v1/dispatches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"mo_id": 6,                              ← MO-20260818-0001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"step_seq": 30,                          ← 第 30 工序：光刻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"step_name": "光刻",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"process_section_id": 9,                 ← 光刻工段（可省略，会自动反查）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"equipment_id": 25,                     ← 生产人员选具体设备：LITHO-001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"assigned_operator_id": 8,             ← 张三（L3 资质）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"assigned_team": "A班",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"dispatch_qty": 1000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服务端自动处理：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26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校验 MO 非 DRAFT 状态；校验工段 id 存在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解析工艺数据字段模板（按优先级反查 form_template_id）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创建草稿 FormRecord，按 default_value 预填字段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回填 form_template_id / form_record_id 到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05  阶段四：执行——派工 Dispatch（2/2）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模板反查优先级 + 设备 DOWN 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工艺数据字段模板反查优先级（_resolve_form_template_id）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188720" cy="4114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优先级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14480"/>
            <a:ext cx="100584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微软雅黑"/>
              </a:defRPr>
            </a:pPr>
            <a:r>
              <a:t>入参 process_section_id 指定工段的 form_template_id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1188720" cy="4114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优先级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63120"/>
            <a:ext cx="100584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微软雅黑"/>
              </a:defRPr>
            </a:pPr>
            <a:r>
              <a:t>按 mo.routing_id + step_seq 找 RoutingStep，从其 process_section_id 反查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51760"/>
            <a:ext cx="1188720" cy="4114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优先级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11760"/>
            <a:ext cx="100584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微软雅黑"/>
              </a:defRPr>
            </a:pPr>
            <a:r>
              <a:t>RoutingStep 直接挂接的 param_form_template_id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1188720" cy="41148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60400"/>
            <a:ext cx="100584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微软雅黑"/>
              </a:defRPr>
            </a:pPr>
            <a:r>
              <a:t>找不到则不强制工艺数据采集，派工照常创建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C2185B"/>
                </a:solidFill>
                <a:latin typeface="微软雅黑"/>
              </a:defRPr>
            </a:pPr>
            <a:r>
              <a:t>设备 DOWN 时的自动联动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97680"/>
            <a:ext cx="11430000" cy="21945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光刻机 LITHO-001 突发故障 → 设备状态切 DOWN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├─ 自动创建一条 REPAIR 维修工单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├─ 调用 hold_dispatch_by_equipment_down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│    把该设备上所有 RUNNING 派工切到 HELD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│    回填 held_reason = "设备DOWN机-关联工单#WO..."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│    回填 held_work_order_id</a:t>
            </a:r>
          </a:p>
          <a:p>
            <a:pPr>
              <a:lnSpc>
                <a:spcPct val="115000"/>
              </a:lnSpc>
              <a:defRPr sz="1100">
                <a:solidFill>
                  <a:srgbClr val="262626"/>
                </a:solidFill>
                <a:latin typeface="Consolas"/>
              </a:defRPr>
            </a:pPr>
            <a:r>
              <a:t>   └─ 维修完成、设备 UP 后，派工可从 HELD 退回 RUNNING 继续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05  阶段四：派工状态机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Dispatch 状态流转与双向联动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派工状态机（VALID_DISPATCH_TRANSITIONS）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194560" cy="64008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QUEUED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排队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1783080"/>
            <a:ext cx="36576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645920"/>
            <a:ext cx="219456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ASSIGNED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已派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12080" y="1783080"/>
            <a:ext cx="36576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194560" cy="6400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RUNNING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开工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1783080"/>
            <a:ext cx="36576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219456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完工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743200"/>
            <a:ext cx="2194560" cy="64008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HELD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暂停（DOWN/缺料/工艺异常）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微软雅黑"/>
              </a:defRPr>
            </a:pPr>
            <a:r>
              <a:t>RUNNING ⇄ HELD 双向，HELD 可来自 RUNNING 或退回 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状态联动（update_dispatch 中自动处理）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8056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QUEUED → ASSIGNED：班组长指派设备和作业员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ASSIGNED → RUNNING：自动回填 actual_start；并把 MO 从 RELEASED 自动升到 IN_PROGRESS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RUNNING → COMPLETED：自动回填 actual_end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RUNNING → HELD：必须填 held_reason（DOWN 机/缺料/工艺异常）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COMPLETED → RUNNING：允许退回重做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06  阶段五：填写工艺数据 + 报工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操作员录入 + 状态联动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张三在 HMI 上完成光刻后，按表单填写实际值：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7772400" cy="47548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PUT /api/v1/form-records/42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"values": [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{"field_key":"exposure_energy","field_value":55.2},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{"field_key":"focus_offset",   "field_value":-0.3},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{"field_key":"alignment_error","field_value":28},              ← &lt; 35nm 阈值，合格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{"field_key":"develop_time",   "field_value":62},              ← 覆盖默认 60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{"field_key":"reticle_id",     "field_value":"RET-2026-A07"},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  {"field_key":"abnormal",       "field_value":"NORMAL"}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  ]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PATCH /api/v1/form-records/42/submit   →  status: 已提交, submitted_at 自动回填</a:t>
            </a:r>
          </a:p>
          <a:p>
            <a:pPr>
              <a:lnSpc>
                <a:spcPct val="115000"/>
              </a:lnSpc>
              <a:defRPr sz="1000">
                <a:solidFill>
                  <a:srgbClr val="262626"/>
                </a:solidFill>
                <a:latin typeface="Consolas"/>
              </a:defRPr>
            </a:pPr>
            <a:r>
              <a:t>PATCH /api/v1/form-records/42/audit    →  status: 已审核（含二次密码+电子签名）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4630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审核后的记录管理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74519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审核通过后记录锁定，不可原地改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修正必须走 FormRecordAmendment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需填写：原值、新值、原因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修正人二次密码校验+电子签名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可由审核人批准修正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满足 ISO/车规体系要求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2062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报工 LaborReport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6177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关联 dispatch_id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投入/合格/不良数量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session_start/end 时段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man_hours 人×小时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200">
                <a:solidFill>
                  <a:srgbClr val="262626"/>
                </a:solidFill>
                <a:latin typeface="微软雅黑"/>
              </a:defRPr>
            </a:pPr>
            <a:r>
              <a:t>•  form_record_id 关联工艺数据表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07  全链路追溯能力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数据主线一条不可断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任何追溯查询都能拿到完整数据链：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43000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ProductionOrder (MO-20260818-001)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└─ Dispatch (派工#15 光刻, 设备=LITHO-001, 操作员=张三)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     ├─ LaborReport (报工: 投入1000/合格995/不良5)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     └─ FormRecord (工艺参数: exposure_energy=55.2, alignment_error=28nm, ...)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            ├─ 引用 FormTemplate (光刻工艺参数记录表 v1)</a:t>
            </a:r>
          </a:p>
          <a:p>
            <a:pPr>
              <a:lnSpc>
                <a:spcPct val="115000"/>
              </a:lnSpc>
              <a:defRPr sz="1200">
                <a:solidFill>
                  <a:srgbClr val="262626"/>
                </a:solidFill>
                <a:latin typeface="Consolas"/>
              </a:defRPr>
            </a:pPr>
            <a:r>
              <a:t>              └─ FormRecordAmendment (如有修正, 留痕)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微软雅黑"/>
              </a:defRPr>
            </a:pPr>
            <a:r>
              <a:t>典型追溯场景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0060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QA/工艺工程师通过 GET /api/v1/form-records/{id}/export/json 或 /export/csv 导出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SPC 分析：曝光能量是否偏离控制线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不良追溯：某片晶圆 CD 超差，反查当时 LITHO-001 的焦距偏移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300">
                <a:solidFill>
                  <a:srgbClr val="262626"/>
                </a:solidFill>
                <a:latin typeface="微软雅黑"/>
              </a:defRPr>
            </a:pPr>
            <a:r>
              <a:t>•  归档备审：满足 ISO 9001 / IATF 16949 / 车规 AEC-Q100 体系追溯要求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07  设计要点回顾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微软雅黑"/>
              </a:defRPr>
            </a:pPr>
            <a:r>
              <a:t>关键设计决策一览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微软雅黑"/>
              </a:defRPr>
            </a:pPr>
            <a:r>
              <a:t>工艺定义与生产执行彻底解耦：工艺工程师聚焦"采什么数据"，生产人员派工时聚焦"在哪台机做"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5020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工段绑定设备组（模板层），不绑具体设备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8020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微软雅黑"/>
              </a:defRPr>
            </a:pPr>
            <a:r>
              <a:t>→ ProcessSection.equipment_group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0" y="173736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5020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派工时由生产人员选具体设备（执行层）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8020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E67E22"/>
                </a:solidFill>
                <a:latin typeface="微软雅黑"/>
              </a:defRPr>
            </a:pPr>
            <a:r>
              <a:t>→ Dispatch.equipment_id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6888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1888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工段作为独立可复用工段库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4888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→ ProcessSection 主表，被多个 RoutingStep 引用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6888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9360" y="26060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1888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派工自动初始化空白工艺表单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4888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微软雅黑"/>
              </a:defRPr>
            </a:pPr>
            <a:r>
              <a:t>→ _init_form_record_for_dispatch，按 default_value 预填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33756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8756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工段被引用时禁止硬删除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71756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C2185B"/>
                </a:solidFill>
                <a:latin typeface="微软雅黑"/>
              </a:defRPr>
            </a:pPr>
            <a:r>
              <a:t>→ delete_process_section 校验引用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3756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3474720"/>
            <a:ext cx="457200" cy="4572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8756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模板停用温和降级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1756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微软雅黑"/>
              </a:defRPr>
            </a:pPr>
            <a:r>
              <a:t>→ is_active=False 时仅跳过初始化，不阻断派工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20624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25624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工艺数据审核后不可原地改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58624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1F4E79"/>
                </a:solidFill>
                <a:latin typeface="微软雅黑"/>
              </a:defRPr>
            </a:pPr>
            <a:r>
              <a:t>→ FormRecordAmendment 留痕修正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0624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09360" y="4343400"/>
            <a:ext cx="457200" cy="457200"/>
          </a:xfrm>
          <a:prstGeom prst="ellipse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25624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设备 DOWN 自动暂停派工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58624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C2185B"/>
                </a:solidFill>
                <a:latin typeface="微软雅黑"/>
              </a:defRPr>
            </a:pPr>
            <a:r>
              <a:t>→ hold_dispatch_by_equipment_down 联动钩子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074920"/>
            <a:ext cx="5577840" cy="77724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" y="52120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12492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微软雅黑"/>
              </a:defRPr>
            </a:pPr>
            <a:r>
              <a:t>MO 与派工状态联动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45492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微软雅黑"/>
              </a:defRPr>
            </a:pPr>
            <a:r>
              <a:t>→ 派工 RUNNING 自动把 MO 从 RELEASED 升 IN_PROGRESS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微软雅黑"/>
              </a:defRPr>
            </a:pPr>
            <a:r>
              <a:t>Q&amp;A  /  Thank 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微软雅黑"/>
              </a:defRPr>
            </a:pPr>
            <a:r>
              <a:t>SEMS 生产管理 · 培训材料   |  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