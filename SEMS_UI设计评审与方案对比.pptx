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90672"/>
            <a:ext cx="41148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163824"/>
            <a:ext cx="256032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UI / UX 设计评审报告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SEMS 半导体设备管理系统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改版方案对比 · 现状评审 · 三套设计样图 · 落地路线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3108960" cy="17373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现代科技蓝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  <a:latin typeface="微软雅黑"/>
                <a:ea typeface="微软雅黑"/>
                <a:cs typeface="微软雅黑"/>
              </a:rPr>
              <a:t>渐进升级 · 低迁移成本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4297680"/>
            <a:ext cx="3108960" cy="17373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800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极简青绿洁净风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  <a:latin typeface="微软雅黑"/>
                <a:ea typeface="微软雅黑"/>
                <a:cs typeface="微软雅黑"/>
              </a:rPr>
              <a:t>Fab 洁净室心理暗示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297680"/>
            <a:ext cx="3108960" cy="17373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800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暗色科技大屏风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  <a:latin typeface="微软雅黑"/>
                <a:ea typeface="微软雅黑"/>
                <a:cs typeface="微软雅黑"/>
              </a:rPr>
              <a:t>车间 55 寸监控屏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评审版本 v1.0   ·   2026-08-09   ·   基于 SEMS v1.2.0 现场采集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Contents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43000"/>
            <a:ext cx="6858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1430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143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一、现状证据采集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登录页 / 看板 / 设备台账 —— 真实系统 Before 截图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856232"/>
            <a:ext cx="6858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56232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8562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二、问题清单与改造方向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1762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视觉层 / 信息层 / 组件层 —— 17 项具体问题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69464"/>
            <a:ext cx="6858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69464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56946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三、方案 A · 现代科技蓝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88950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色板 / 样图 / 适用场景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82696"/>
            <a:ext cx="6858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82696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28269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四、方案 B · 极简青绿洁净风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6027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色板 / 样图 / 适用场景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95928"/>
            <a:ext cx="6858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9592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9959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五、方案 C · 暗色科技大屏风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3159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色板 / 样图 / 适用场景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09160"/>
            <a:ext cx="6858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0916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7091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六、三套方案横向对比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029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成本 / 工时 / 可读性 / 契合度 —— 10 项打分表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22392"/>
            <a:ext cx="6858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422392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42239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七、落地路线 &amp; 决策建议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7424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5 阶段实施 + 方案选 A / B / C / B+C 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一、现状证据采集（Before）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3 个核心页面真实系统截屏 · 作为改版基线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登录页  ·  #/login</a:t>
            </a:r>
          </a:p>
        </p:txBody>
      </p:sp>
      <p:pic>
        <p:nvPicPr>
          <p:cNvPr id="11" name="Picture 10" descr="befor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303520" cy="2622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3611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看板总览  ·  #/dashboard</a:t>
            </a:r>
          </a:p>
        </p:txBody>
      </p:sp>
      <p:pic>
        <p:nvPicPr>
          <p:cNvPr id="13" name="Picture 12" descr="befor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5303520" cy="26227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105156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设备台账  ·  #/equipment</a:t>
            </a:r>
          </a:p>
        </p:txBody>
      </p:sp>
      <p:pic>
        <p:nvPicPr>
          <p:cNvPr id="15" name="Picture 14" descr="before_equip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71600"/>
            <a:ext cx="5943600" cy="2939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二、现状问题清单（1/3）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视觉层 · 5 个维度逐一分析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09728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3657600"/>
                <a:gridCol w="3566160"/>
              </a:tblGrid>
              <a:tr h="8991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现状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改造方向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品牌主色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单一 #409EFF 默认蓝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未形成 6 色 Design Token 板
缺少成功/警告/强调色语言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建立 6 色令牌系统
+ 状态色语义化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侧栏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深蓝 #001529 无渐变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Element Plus 默认高度雷同
缺乏品牌辨识度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方案做差异化：
渐变/纯白/霓虹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卡片/阴影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shadow=never 无阴影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筛选/表头/数据区层级几乎相同
信息结构扁平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引入 2 级阴影体系
卡片 12px 圆角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留白节奏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 18px padding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KPI 卡与表格同间距
密度不匹配内容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分区 24px/卡片 16px/
表格 12px 三级节奏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圆角体系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Element 默认 4px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现代产品主流 6-12px 圆角
亲和力更强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卡片 12/按钮 8/
表格 8 三档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二、现状问题清单（2/3）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信息/交互层 · 6 项具体问题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11247120" cy="5394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325880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2588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380744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DOWN / PM 顶部方块：视觉重量过大，数字与标签排版松散，缺少图标锚点。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67128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6712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22199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状态 Tag 仅靠颜色区分（5 色 dark effect），色弱用户辨识度不足，缺形状通道。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08376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08376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632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斑马纹 + 粗边框表格：像「后台工具」，与半导体「精密生产系统」气质不一致。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49624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962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0448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筛选区 4 下拉 + 1 关键词 + 2 按钮挤在卡片头，换行后对齐非常混乱。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90872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908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74573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操作列 4 个文本链接并排：点击区域小、误触率高；未按主次拆分按钮。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532120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53212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586984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面包屑 / 标题字号同级（16px），页面焦点弱，用户找不到「当前页锚点」。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二、现状问题清单（3/3）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组件层 · 统一升级方案（三方案均包含）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6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09728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6126480"/>
              </a:tblGrid>
              <a:tr h="8991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现状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统一改造方向（无论 A/B/C 哪套都做）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按钮 Button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Element 默认 8px 圆角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主按钮加渐变 + 投影；主次按钮视觉差异加大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输入框 Input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2px 蓝色聚焦边框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聚焦色跟随方案主色；禁用态灰阶统一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状态标签 Tag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 dark effect，仅靠颜色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RUN=●绿点 / DOWN=▲红感叹 / PM=⏱橙时钟 / ENG=◆蓝菱形
形状+颜色双通道，色弱人群可读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空态 / 加载 Empty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Element 默认文字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补充品牌化插画空态；关键列表加骨架屏 Skeleton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</a:tr>
              <a:tr h="899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弹窗 Dialog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居中白底 + 底部按钮居中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16px 大圆角 + 底部按钮右对齐 + 危险操作红色突出确认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三、方案 A · 现代科技蓝（Modern Blue）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推荐 · 普适 · 常规成本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7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051560"/>
            <a:ext cx="1005840" cy="384048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51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51560"/>
            <a:ext cx="1005840" cy="384048"/>
          </a:xfrm>
          <a:prstGeom prst="roundRect">
            <a:avLst>
              <a:gd name="adj" fmla="val 3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051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普适性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1051560"/>
            <a:ext cx="1005840" cy="384048"/>
          </a:xfrm>
          <a:prstGeom prst="roundRect">
            <a:avLst>
              <a:gd name="adj" fmla="val 3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051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5544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风格定位：延续现有蓝色基调，小步优化升级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侧栏玻璃态渐变 / KPI 卡加入图标锚点 / 卡片 12px 圆角 + 柔和投影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Element CSS 变量改 35% 即可达到 80% 效果 → 成本最低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▎色板 Design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#2563EB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主按钮/激活菜单/链接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#10B981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RUN 状态/完成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#F97316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PM 状态/预警卡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#EF4444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Danger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DOWN 状态/删除确认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#6366F1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Info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ENG 状态/关键指标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#64748B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Muted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次要文字/禁用态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#F8FAFC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Surface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页面背景 #F1F5F9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1097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方案 A 样图 · 看板总览</a:t>
            </a:r>
          </a:p>
        </p:txBody>
      </p:sp>
      <p:pic>
        <p:nvPicPr>
          <p:cNvPr id="47" name="Picture 46" descr="design_scheme_A_modern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349240" cy="30089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37960" y="4471988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渐变靛青侧栏 + 柔和卡片阴影 + 圆角状态标签 + 图标化 KPI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三、方案 A · 适配场景与改造范围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适合希望「保留操作习惯、马上能用」的场景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8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✓ 适合场景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109728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希望「保留现有操作习惯、渐进升级」：用户无需重新学习，颜色语言一致但更精致。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主要使用场景为办公室 PC（22-27 寸显示器），不做车间 55 寸大屏投放。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改造预算有限。Element Plus CSS 变量覆盖即可实现 70% 视觉效果，组件级改动量少。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企业有现成 Element Plus 经验 / 历史项目，团队熟悉，落地风险最低。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▎改造范围（覆盖页面）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43484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模块（按优先级降序）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 · 必须覆盖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登录页 / 看板总览 / 设备台账 / 工单管理 / 侧栏+顶栏（全局）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 · 建议覆盖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PM维护计划 / 工艺文件 / 表单模板管理 / OEE分析 / 系统配置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 · 可以延后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点检巡检 / 备件管理 / 品管工具 / 环境核查 / 人员管理 / 资产管理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四、方案 B · 极简青绿洁净风（Cleanroom Minimal）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洁净室风格 · 低视觉噪音 · 阅读舒适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9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051560"/>
            <a:ext cx="1188720" cy="384048"/>
          </a:xfrm>
          <a:prstGeom prst="roundRect">
            <a:avLst>
              <a:gd name="adj" fmla="val 3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515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Fab 洁净室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1051560"/>
            <a:ext cx="1188720" cy="384048"/>
          </a:xfrm>
          <a:prstGeom prst="roundRect">
            <a:avLst>
              <a:gd name="adj" fmla="val 3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0515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低视觉噪音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051560"/>
            <a:ext cx="1188720" cy="384048"/>
          </a:xfrm>
          <a:prstGeom prst="roundRect">
            <a:avLst>
              <a:gd name="adj" fmla="val 3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0515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舒适阅读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5544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风格定位：对标半导体洁净车间心理暗示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纯白基调 + 薄荷绿主色 + 大量留白 + 无斑马纹无粗边框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绿色在 Fab 语义 =「RUN / 正常 / 绿灯」，契合行业习惯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▎色板 Design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#10B981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主按钮 / RUN状态 / 激活菜单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#22D3EE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ENG状态 / 次级链接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#F59E0B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PM 状态（琥珀橙洁净面板）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#F43F5E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Danger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DOWN 状态 / 危险操作（玫瑰红更柔和）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#1F2937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正文深灰（非纯黑，不刺眼）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#F8FAFC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Surface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背景近白 / 卡片纯白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#F0FDF4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Tint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选中行 / 成功提示底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1097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方案 B 样图 · 洁净室美学</a:t>
            </a:r>
          </a:p>
        </p:txBody>
      </p:sp>
      <p:pic>
        <p:nvPicPr>
          <p:cNvPr id="47" name="Picture 46" descr="design_scheme_B_minimal_g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349240" cy="30089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37960" y="4471988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纯白侧栏 + 3px 绿激活条 + 数字点式 KPI + 超轻量级表格线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四、方案 B · 适配场景与元素改造亮点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适合 Fab 工艺员/工程师长期使用场景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10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✓ 适合场景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109728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半导体 Fab 现场工程师 / 工艺员长期使用，长时间阅读疲劳最小。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希望 UI 传递「洁净 / 精密 / 可信赖」品牌感知，契合半导体行业心理暗示。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公司设计语言已在走极简风（飞书 / Notion / Linear 爱好者），内部审美接受度高。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可以接受「与现状有一定视觉差异」，愿意花 1-2 天对用户做培训沟通。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▎改造亮点（与方案 A 的差异）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4348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754880"/>
                <a:gridCol w="4846320"/>
              </a:tblGrid>
              <a:tr h="350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 marL="60000" marR="60000" marT="40000" marB="40000">
                    <a:solidFill>
                      <a:srgbClr val="10B9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A（现代蓝）</a:t>
                      </a:r>
                    </a:p>
                  </a:txBody>
                  <a:tcPr anchor="ctr" marL="60000" marR="60000" marT="40000" marB="40000">
                    <a:solidFill>
                      <a:srgbClr val="10B9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B（极简青绿）</a:t>
                      </a:r>
                    </a:p>
                  </a:txBody>
                  <a:tcPr anchor="ctr" marL="60000" marR="60000" marT="40000" marB="40000">
                    <a:solidFill>
                      <a:srgbClr val="10B981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侧栏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深蓝 → 靛青 渐变玻璃态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纯白 + 仅 3px 激活色条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背景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#F1F5F9 冷灰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#FAFAFA 近白 + 卡片纯白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表格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轻斑马纹 / 卡片包裹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无斑马纹、仅 1px 分隔线、卡片无边框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KPI 卡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渐变底 + 图标 + 阴影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仅色点 + 数字 + 标签（大量留白）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按钮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实色渐变 + 投影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圆角 16px 胶囊状，主色薄荷绿填充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五、方案 C · 暗色科技大屏风（Dark Control Room）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55寸大屏适配 · 霓虹发光 · 高对比度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051560"/>
            <a:ext cx="1188720" cy="384048"/>
          </a:xfrm>
          <a:prstGeom prst="roundRect">
            <a:avLst>
              <a:gd name="adj" fmla="val 3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515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55寸大屏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051560"/>
            <a:ext cx="1188720" cy="384048"/>
          </a:xfrm>
          <a:prstGeom prst="roundRect">
            <a:avLst>
              <a:gd name="adj" fmla="val 3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0515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霓虹发光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051560"/>
            <a:ext cx="1188720" cy="384048"/>
          </a:xfrm>
          <a:prstGeom prst="roundRect">
            <a:avLst>
              <a:gd name="adj" fmla="val 3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0515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高对比度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5544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风格定位：生产车间 55 寸监控大屏 / 指挥中心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深海军蓝黑基底 + 霓虹青(#22D3EE) + 霓虹紫(#6366F1) 双强调色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工业 SCADA 控制台质感；DOWN 呼吸脉冲红色边框；图表霓虹渐变线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▎色板 Design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#0B1220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全局背景（替代白）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#0F172A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卡片/侧栏玻璃态叠加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#22D3EE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Neon Cyan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激活菜单/图表线/ENG状态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333756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#6366F1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Neon Pur.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LOGO/主按钮/强强调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#10B981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Neon Green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RUN状态/正常KPI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#EF4444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Neon 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DOWN警报/脉冲闪烁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120640"/>
            <a:ext cx="914400" cy="8229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51206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#F59E0B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989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Neon Amber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2636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PM/预警KPI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1097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方案 C 样图 · 控制大屏风格</a:t>
            </a:r>
          </a:p>
        </p:txBody>
      </p:sp>
      <p:pic>
        <p:nvPicPr>
          <p:cNvPr id="47" name="Picture 46" descr="design_scheme_C_dark_ne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349240" cy="30089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37960" y="4471988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霓虹发光状态卡 + 暗色玻璃态表格 + 55寸大屏远距离可读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五、方案 C · 适配场景与双皮肤架构建议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适合车间大屏 + 值班岗双皮肤架构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✓ 适合场景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109728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厂区指挥中心 / 生产线 55 寸监控大屏展示，远距离 3-5 米外需要高对比度可读。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需要 24 小时亮屏：深色背景 OLED 屏幕更省电、像素灼烧风险显著降低。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企业品牌科技感强，希望管理系统视觉像「工业 4.0 控制台」而不是「OA 后台」。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4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现场值班岗 + 办公区工程师并行使用的场景（建议 B+C 双皮肤架构）。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▎推荐：B + C 双皮肤并行架构（仅额外 1-2 人日）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顶层：一个 localStorage 开关按钮  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8348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默认皮肤 B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极简青绿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办公 PC / 日常操作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98348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983480"/>
            <a:ext cx="3200400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507492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CSS 变量切换层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 Plus tokens 一键切换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98348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4983480"/>
            <a:ext cx="320040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507492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大屏模式皮肤 C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暗色霓虹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车间 55 寸 / 值班岗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六、三套方案横向对比（1/2）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10 项维度打分 · 表格化一目了然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05156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  <a:gridCol w="3017520"/>
              </a:tblGrid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A · 现代蓝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B · 极简青绿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C · 暗色霓虹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迁移成本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★☆☆ 低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★★☆ 中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 高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开发工时(估)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6 - 8 人日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10 - 14 人日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15 - 20 人日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PC办公可读性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★★★☆☆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车间大屏可读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★★★☆☆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★★★★☆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长期用疲劳度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较低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最低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中低（OLED屏幕）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与现状差异度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小（渐进优化）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中（换色板+留白）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大（彻底换视觉语言）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六、三套方案横向对比（2/2）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色弱友好度 / 行业契合 / 决策建议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05156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3017520"/>
              </a:tblGrid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A · 现代蓝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B · 极简青绿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C · 暗色霓虹</a:t>
                      </a:r>
                    </a:p>
                  </a:txBody>
                  <a:tcPr anchor="ctr" marL="60000" marR="60000" marT="40000" marB="40000">
                    <a:solidFill>
                      <a:srgbClr val="0F172A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色弱人群辨识度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良好（颜色+形状双通道）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最佳（对比度 + 通道）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良好（霓虹+形状）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Fab 行业契合度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通用企业后台风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 高度契合（洁净室）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 高度契合（监控大屏）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Element 变量改动率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~35%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~55%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~75%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单皮肤推荐指数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★★★★☆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★★★☆☆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双皮肤搭档方案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不建议搭配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作为默认办公皮肤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作为大屏模式皮肤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  <a:tr h="7707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搭配决策建议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小步快跑 首选
改得少 马上用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洁净类 Fab 首选
办公 PC 日常使用</a:t>
                      </a:r>
                    </a:p>
                  </a:txBody>
                  <a:tcPr anchor="ctr" marL="60000" marR="60000" marT="40000" marB="40000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有大屏监控需求 /
与 B 组合为双皮肤</a:t>
                      </a:r>
                    </a:p>
                  </a:txBody>
                  <a:tcPr anchor="ctr" marL="60000" marR="60000" marT="40000" marB="400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六、三套样图并排对比页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A（左）/ B（中）/ C（右）看板样图视觉对比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3840480" cy="41148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A · 现代蓝</a:t>
            </a:r>
          </a:p>
        </p:txBody>
      </p:sp>
      <p:pic>
        <p:nvPicPr>
          <p:cNvPr id="12" name="Picture 11" descr="design_scheme_A_modern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3840480" cy="21602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57607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渐变靛青 + 柔和阴影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051560"/>
            <a:ext cx="3840480" cy="411480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515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B · 极简青绿</a:t>
            </a:r>
          </a:p>
        </p:txBody>
      </p:sp>
      <p:pic>
        <p:nvPicPr>
          <p:cNvPr id="16" name="Picture 15" descr="design_scheme_B_minimal_gre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08760"/>
            <a:ext cx="3840480" cy="21602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60520" y="57607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洁净白 + 薄荷绿点缀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051560"/>
            <a:ext cx="3840480" cy="411480"/>
          </a:xfrm>
          <a:prstGeom prst="roundRect">
            <a:avLst>
              <a:gd name="adj" fmla="val 3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0515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C · 暗色霓虹</a:t>
            </a:r>
          </a:p>
        </p:txBody>
      </p:sp>
      <p:pic>
        <p:nvPicPr>
          <p:cNvPr id="20" name="Picture 19" descr="design_scheme_C_dark_ne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08760"/>
            <a:ext cx="3840480" cy="21602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0" y="57607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深海军黑底 + 霓虹发光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七、落地实施路线（1/2）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 个阶段 · 线性推进 · 阶段 1 可做 Demo 走查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16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36576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51560"/>
            <a:ext cx="365760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6400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188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1 (1-2 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11680"/>
            <a:ext cx="3200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设计令牌 + 变量覆盖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建立 styles/design-tokens.css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(色板/圆角/阴影/间距令牌)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全局覆盖 Element Plus CSS 变量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登录页 + 侧栏 + 顶栏先行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→ 产出视觉走查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051560"/>
            <a:ext cx="36576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051560"/>
            <a:ext cx="3657600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1188720"/>
            <a:ext cx="6400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188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2 (2-4 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11680"/>
            <a:ext cx="3200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组件级样式升级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表格统一（行高/hover/斑马纹）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状态标签/按钮/KPI 卡组件化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卡片阴影/圆角/内边距规范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形成 1 页「组件样例」作为开发标准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051560"/>
            <a:ext cx="36576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051560"/>
            <a:ext cx="3657600" cy="8229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1188720"/>
            <a:ext cx="6400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188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3 (1-8 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011680"/>
            <a:ext cx="3200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页面逐个适配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看板 → 台账 → 工单 → 工艺文件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表单模板 → OEE → 品管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环境核查 → 人员 → 资产 → 配置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共 14 模块按优先级顺序覆盖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8404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8404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七、落地实施路线（2/2）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阶段 4-5 + 四档方案工时总览表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55778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51560"/>
            <a:ext cx="557784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143000"/>
            <a:ext cx="64008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143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P4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14300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4 (1-2 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82880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空态 / 骨架 / 动画 + 回归测试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加载骨架屏 + 404 插画 + 空态插画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路由过渡动画 / 卡片微交互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Chrome / Safari / Edge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+ 大屏 (2K / 4K) 分辨率回归测试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051560"/>
            <a:ext cx="55778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051560"/>
            <a:ext cx="5577840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1143000"/>
            <a:ext cx="64008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143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P5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14300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5 (0.5-1 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大屏模式开关（选分支 2 时）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顶栏 ☾ 切换按钮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用 CSS 变量 + localStorage 记忆皮肤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与默认皮肤并行不冲突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▎四档方案工时总览（单位：人日）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416052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280160"/>
                <a:gridCol w="1280160"/>
                <a:gridCol w="1280160"/>
                <a:gridCol w="1280160"/>
                <a:gridCol w="1371600"/>
              </a:tblGrid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方案组合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阶段1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阶段2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阶段3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阶段4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阶段5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 marL="60000" marR="60000" marT="40000" marB="40000">
                    <a:solidFill>
                      <a:srgbClr val="2563E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· 现代蓝（单皮肤）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2400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marL="60000" marR="60000" marT="40000" marB="40000">
                    <a:solidFill>
                      <a:srgbClr val="FEF3C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· 极简青绿（单皮肤）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2400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anchor="ctr" marL="60000" marR="60000" marT="40000" marB="40000">
                    <a:solidFill>
                      <a:srgbClr val="FEF3C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· 暗色霓虹（单皮肤）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marL="60000" marR="6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2400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</a:t>
                      </a:r>
                    </a:p>
                  </a:txBody>
                  <a:tcPr anchor="ctr" marL="60000" marR="60000" marT="40000" marB="40000">
                    <a:solidFill>
                      <a:srgbClr val="FEF3C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+ C · 双皮肤并行 ★</a:t>
                      </a:r>
                    </a:p>
                  </a:txBody>
                  <a:tcPr anchor="ctr" marL="60000" marR="60000" marT="40000" marB="40000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60000" marR="60000" marT="40000" marB="40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2400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</a:t>
                      </a:r>
                    </a:p>
                  </a:txBody>
                  <a:tcPr anchor="ctr" marL="60000" marR="60000" marT="40000" marB="40000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七、推荐决策路径（Decision Tree）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根据用户群体 + 部署场景，两条分支快速定位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097280"/>
            <a:ext cx="11064240" cy="256032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097280"/>
            <a:ext cx="164592" cy="2560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1887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分支 1 · 单皮肤普适（80% 客户选此）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9164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🔹 更重视「改得少、马上用」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→ 选择 【方案 A 现代蓝】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工时：6-8 人日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风险：最低，Element 变量覆盖即可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37360"/>
            <a:ext cx="18288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🔹 更重视「洁净感/品牌感/久读」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→ 选择 【方案 B 极简青绿】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工时：10-14 人日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效果：Fab 洁净氛围行业最佳契合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274320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164592" cy="2743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分支 2 · 双皮肤并行（办公 + 车间大屏都有）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推荐组合：【默认皮肤 B 极简青绿】 + 【大屏模式 C 暗色霓虹】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   总工时：23 人日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切换方式：顶栏「☾ 大屏模式」按钮一键切换，localStorage 记忆，无需重新登录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覆盖人群：工艺员/工程师（B）+ 车间值班岗/指挥中心大屏（C） 两类都满意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七、三方案均包含的「统一保留改造」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无论选择哪套，都会先做的 4 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55778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51560"/>
            <a:ext cx="55778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188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状态标签升级：形状+颜色双通道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1168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RUN = ● 绿点 + 文字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DOWN = ▲ 红色感叹三角形 + 脉冲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PM   = ⏱ 橙色时钟 + 过程进度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ENG  = ◆ 蓝色菱形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色弱用户也能 100% 区分 5 种状态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51560"/>
            <a:ext cx="55778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5577840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188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188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顶部 KPI 卡图标化 + 层次化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DOWN 卡 / PM 卡：加入图标锚点、渐变背景、悬停微浮起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数字从「大块」改为「数字+单位/图标双行」，节奏更高级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DOWN 卡有红边警告闪烁（非频繁，避免打扰）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55778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55778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977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9776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筛选区布局标准化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006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改为「分组卡片」模式：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筛选控件区居左对齐（自动换行整齐）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操作按钮区居右对齐（查询/重置/新增操作组）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14 模块筛选区统一此规范，不再杂乱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840480"/>
            <a:ext cx="55778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55778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977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776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表格交互 + 操作列分级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006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行高 +4px，新增整行 hover 高亮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操作列按钮分级：档案=信息链接 / 编辑=主按钮 / 切换=次按钮 / 删除=danger 链接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列表加入点击行可查看的 hover 提示，视觉点击范围更大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七、下一步（等待您的决策）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3 个决策入口 · 选定后立即进入阶段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20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36576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E7FF"/>
                </a:solidFill>
                <a:latin typeface="微软雅黑"/>
                <a:ea typeface="微软雅黑"/>
                <a:cs typeface="微软雅黑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选择方案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3200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A. 现代蓝（6人日，小步快跑）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B. 极简青绿（12人日，洁净首选）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C. 暗色霓虹（18人日，大屏专用）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B + C 双皮肤（23人日，全覆盖 ★推荐）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188720"/>
            <a:ext cx="36576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E7FF"/>
                </a:solidFill>
                <a:latin typeface="微软雅黑"/>
                <a:ea typeface="微软雅黑"/>
                <a:cs typeface="微软雅黑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737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可选项：局部微调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68880"/>
            <a:ext cx="3200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主色再改一下（例：B 的薄荷绿→蓝一点）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侧栏样式就用 A 不变动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KPI 卡风格照搬 B，其它用 A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任意混搭，告知我调整点即可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188720"/>
            <a:ext cx="36576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9560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E7FF"/>
                </a:solidFill>
                <a:latin typeface="微软雅黑"/>
                <a:ea typeface="微软雅黑"/>
                <a:cs typeface="微软雅黑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737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进入实施：阶段 1 做视觉走查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468880"/>
            <a:ext cx="3200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阶段 1（1-2 天）交付「登录页+看板+侧栏」可交互 Demo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Demo 走查通过 → 进入阶段 2-5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Demo 需要改 → 当场调整参数后再推进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全程小步快跑，避免一次性大翻车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 · 前后对比：Before vs After（方案 A 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登录页 + 看板 + 设备台账视觉升级样例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5760720" cy="365760"/>
          </a:xfrm>
          <a:prstGeom prst="roundRect">
            <a:avLst>
              <a:gd name="adj" fmla="val 3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058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Before（现状）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05840"/>
            <a:ext cx="5760720" cy="36576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0058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After（方案 A 现代蓝 · AI 示意）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4630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登录页 / 看板</a:t>
            </a:r>
          </a:p>
        </p:txBody>
      </p:sp>
      <p:pic>
        <p:nvPicPr>
          <p:cNvPr id="15" name="Picture 14" descr="befor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37360"/>
            <a:ext cx="5669280" cy="28036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0040" y="458671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（现有系统真实截图）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方案 A 看板（AI 设计稿）</a:t>
            </a:r>
          </a:p>
        </p:txBody>
      </p:sp>
      <p:pic>
        <p:nvPicPr>
          <p:cNvPr id="18" name="Picture 17" descr="design_scheme_A_modern_bl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669280" cy="31889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497205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（实际落地后细节会以真实组件渲染为准）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落地进展 · 已实施方案：B + C 双皮肤（跟随系统）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「极简青绿 明色」 + 「暗色霓虹 暗色」双主题，一键切换 / 自动跟随 OS 配色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5486400" cy="5303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B · 极简青绿（明色）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276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1FAE5"/>
                </a:solidFill>
                <a:latin typeface="微软雅黑"/>
                <a:ea typeface="微软雅黑"/>
                <a:cs typeface="微软雅黑"/>
              </a:rPr>
              <a:t>LIGHT · 洁净车间 / 白天办公首选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12064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主色 #10B981 翠绿；背景 F8FAFC（干净无压迫）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侧栏纯白 + 翠绿高亮，视觉重心在看板数据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登录页：青绿斜切渐变，干净易辨识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状态标签：高饱和语义色 + 白色描边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适用：洁净室办公、白天车间电脑、给客户演示投屏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486400" cy="53035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984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  <a:latin typeface="微软雅黑"/>
                <a:ea typeface="微软雅黑"/>
                <a:cs typeface="微软雅黑"/>
              </a:rPr>
              <a:t>方案 C · 暗色霓虹（暗色）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4E5B"/>
                </a:solidFill>
                <a:latin typeface="微软雅黑"/>
                <a:ea typeface="微软雅黑"/>
                <a:cs typeface="微软雅黑"/>
              </a:rPr>
              <a:t>DARK · 夜班监控 / 大屏 / 低视觉疲劳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512064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主色 #22D3EE 霓虹青；页面 0F172A（深夜蓝）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卡片 1E293B + 霓虹描边弱发光，大屏不反光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登录页：深蓝 135° → 深青斜切，夜间低刺激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状态标签：10~18% 半透明色底 + 同色系描边（不过亮）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25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适用：夜班工程师、洁净室监控大屏、长时间看板值守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落地进展 · 三态切换机制与技术实现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顶栏下拉：明色 / 暗色 / 跟随系统；状态 &amp; 偏好持久化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82296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444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明色青绿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2004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强制 :root 变量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始终亮底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图标 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适合白天办公室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28016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417320"/>
            <a:ext cx="822960" cy="411480"/>
          </a:xfrm>
          <a:prstGeom prst="roundRect">
            <a:avLst>
              <a:gd name="adj" fmla="val 4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46304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444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暗色霓虹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20240"/>
            <a:ext cx="32004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html.dark 类生效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始终暗底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图标 ☾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适合夜班/大屏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28016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417320"/>
            <a:ext cx="822960" cy="411480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6304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444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跟随系统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40"/>
            <a:ext cx="32004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prefers-color-scheme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OS 浅/深实时切换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图标 🖥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★ 个人办公首选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40480"/>
            <a:ext cx="11430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3840480"/>
            <a:ext cx="11430000" cy="502920"/>
          </a:xfrm>
          <a:prstGeom prst="roundRect">
            <a:avLst>
              <a:gd name="adj" fmla="val 4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862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实现要点（可二次自定义）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主题变量集中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43484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frontend/src/styles/theme.css → :root（明色） + html.dark（暗色） + 暗模式增量补丁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188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切换逻辑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1888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frontend/src/composables/useTheme.js → light/dark/auto 三态；auto 监听 matchMedia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029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UI 接入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202936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frontend/src/layouts/MainLayout.vue 顶栏下拉按钮；移除硬编码颜色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8698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持久化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586984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localStorage key = sems_theme_mode，刷新/换页仍生效，不随账号走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71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跟随系统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97103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matchMedia('(prefers-color-scheme: dark)') 加 listener，OS 切换立即可见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落地进展 · 暗模式亮度统一补丁（已修复）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针对 Element Plus 组件在暗底上「白底淡蓝字」刺眼观感做增量覆盖修复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5577840" cy="530352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188720"/>
            <a:ext cx="5577840" cy="68580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 · 过亮组件清单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el-tag effect=dark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warning 黄背景亮度 0.75；primary/success/info 都在 0.62+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el-tag effect=light/plain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沿用明色浅色底逻辑 → 在暗底上直接反白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el-button 实心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主/成/警/危/信息 都用明色高饱和 → 暗页一块一块亮色块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el-avatar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头像背景整块 #22D3EE（0.63 亮度），右上角像高亮提示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下拉 / 消息气泡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el-dropdown-menu / el-message 默认仍是 Element Plus 白底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577840" cy="530352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5577840" cy="6858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801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修复后 · 增量补丁策略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不打 :root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286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仅在 html.dark 下追加选择器覆盖，零侵入明色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334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el-tag 三形态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9077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语义色改 10~18% 半透明 + 同色系描边，背景亮度 ≈0.12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5526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el-button 实心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5295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更深色阶：#0891B2 / #059669 / #D97706 / #DC2626 / #475569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7705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el-avatar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1513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半透明 18% + 内描边，不再是整块亮色块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988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下拉/消息/空态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73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统一压到 #1E293B 暗底 + #334155 描边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206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✓ 最终指标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394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所有标签/按钮/头像背景亮度 全部 &lt; 0.35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介绍 · SEMS 是什么 + 近期亮点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半导体设备管理系统：从台账到表单结构化的一体化方案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SEMS 半导体设备管理系统  ·  UI 设计评审  ·  2026-08-09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7315200" cy="5303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12 大核心模块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83080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01168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202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看板 &amp; 台账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77440"/>
            <a:ext cx="169164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实时状态看板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设备档案 &amp; 附件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DOWN 自动派工单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1783080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1783080"/>
            <a:ext cx="20116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19202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点检 &amp;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377440"/>
            <a:ext cx="169164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点检模板/记录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周期 PM 计划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到期自动生成工单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783080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1783080"/>
            <a:ext cx="201168" cy="21488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19202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工单 &amp; 维护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377440"/>
            <a:ext cx="169164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REPAIR/PM 工单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紧急度 &amp; 时长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5Why + 备件领用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201168" cy="2148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519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工艺 &amp; 表单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09160"/>
            <a:ext cx="169164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指导性文件版本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作业记录结构化表单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JSON/CSV 导出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4114800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34640" y="4114800"/>
            <a:ext cx="201168" cy="21488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42519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品管 &amp; 环境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709160"/>
            <a:ext cx="169164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8D 报告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FMEA 风险优先数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温湿度洁净度日志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114800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0" y="4114800"/>
            <a:ext cx="201168" cy="21488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42519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人员 &amp; 资产 &amp; 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709160"/>
            <a:ext cx="169164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技能矩阵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资产调拨报废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  </a:t>
            </a:r>
            <a:r>
              <a:rPr sz="1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备份/加密/IP 白名单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1188720"/>
            <a:ext cx="3840480" cy="53035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325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近期重点（Highlights）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192024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19202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1920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B+C 双皮肤主题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明/暗/跟随系统 三模切换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2670048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267004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670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暗模式亮度补丁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2944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标签/按钮不再亮瞎眼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3419856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341985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4198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结构化电子表单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694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模板定义 → 填写 → 导出 JSON/CSV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4169664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416966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1696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DOWN 自动派工单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状态切 DOWN → 自动创 REPAIR 工单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4919472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49194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9194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3-2-1 低成本灾备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937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加密 + NAS 异地 + 烟雾还原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566928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5669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669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局域网安全加固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943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密码策略 + JWT 双令牌 + 审计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82112"/>
            <a:ext cx="45720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55264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 + C 双皮肤方案已上线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明色青绿 · 暗色霓虹 · 跟随系统  ·  暗模式亮度统一补丁已落地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文档：README.md / docs/用户使用教程.md · 代码：frontend/src/styles/theme.css + useTheme.js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有其它配色/组件体验微调需求可随时提出 → 只改 theme.css 变量即可迭代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