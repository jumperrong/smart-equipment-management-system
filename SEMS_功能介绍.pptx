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3200400"/>
            <a:ext cx="3047695" cy="38100"/>
          </a:xfrm>
          <a:prstGeom prst="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Microsoft YaHei"/>
              </a:rPr>
              <a:t>SEMS 半导体设备管理系统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39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AEC5E8"/>
                </a:solidFill>
                <a:latin typeface="Microsoft YaHei"/>
              </a:rPr>
              <a:t>Semiconductor Equipment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EC5E8"/>
                </a:solidFill>
                <a:latin typeface="Microsoft YaHei"/>
              </a:rPr>
              <a:t>功能介绍 + 管理流程  |  V2026.08  |  2026-08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48640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AAAC8"/>
                </a:solidFill>
                <a:latin typeface="Microsoft YaHei"/>
              </a:rPr>
              <a:t>FastAPI  +  Vue 3  +  Element Plus  +  SQLite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为什么需要 SEMS？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Why SEMS?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70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09688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2C3E50"/>
                </a:solidFill>
                <a:latin typeface="Microsoft YaHei"/>
              </a:rPr>
              <a:t>设备状态靠电话/微信群，台账分散在 Excel/纸档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09688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2C3E50"/>
                </a:solidFill>
                <a:latin typeface="Microsoft YaHei"/>
              </a:rPr>
              <a:t>故障处置经验沉淀差，同一根因反复复发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09688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2C3E50"/>
                </a:solidFill>
                <a:latin typeface="Microsoft YaHei"/>
              </a:rPr>
              <a:t>点检/PM/润滑执行难追踪，容易漏做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09688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2C3E50"/>
                </a:solidFill>
                <a:latin typeface="Microsoft YaHei"/>
              </a:rPr>
              <a:t>备件库存不透明，等要修了才发现缺件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09688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2C3E50"/>
                </a:solidFill>
                <a:latin typeface="Microsoft YaHei"/>
              </a:rPr>
              <a:t>工艺文件版本与审批靠邮件，追溯困难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09688"/>
                </a:solidFill>
                <a:latin typeface="Microsoft YaHei"/>
              </a:rPr>
              <a:t>• </a:t>
            </a:r>
            <a:r>
              <a:rPr sz="1500" b="0">
                <a:solidFill>
                  <a:srgbClr val="2C3E50"/>
                </a:solidFill>
                <a:latin typeface="Microsoft YaHei"/>
              </a:rPr>
              <a:t>8D 报告写完就丢，知识库与品管工具完全脱节</a:t>
            </a:r>
          </a:p>
        </p:txBody>
      </p:sp>
      <p:sp>
        <p:nvSpPr>
          <p:cNvPr id="6" name="Rectangle 5"/>
          <p:cNvSpPr/>
          <p:nvPr/>
        </p:nvSpPr>
        <p:spPr>
          <a:xfrm>
            <a:off x="7700000" y="1280160"/>
            <a:ext cx="4000000" cy="25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82880" y="1371600"/>
            <a:ext cx="36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9688"/>
                </a:solidFill>
                <a:latin typeface="Microsoft YaHei"/>
              </a:rPr>
              <a:t>一句话价值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82880" y="1737360"/>
            <a:ext cx="3634240" cy="19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把设备台账、日常运维、工艺文控、品管合规、数据价值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五个核心闭环落在一套系统里，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真正做到数据可查、经验可复用。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五大业务闭环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Five Business Loops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000" cy="914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91440"/>
            <a:ext cx="3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① 设备台账 &amp; 状态闭环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00000" y="1191440"/>
            <a:ext cx="500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设备台账 / 状态切换 / 设备全生命周期 T0-T3 / 润滑管理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0" y="1191440"/>
            <a:ext cx="260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9688"/>
                </a:solidFill>
                <a:latin typeface="Microsoft YaHei"/>
              </a:rPr>
              <a:t>机台状态一眼看清，DOWN 自动派工单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0000"/>
            <a:ext cx="11277000" cy="914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91440"/>
            <a:ext cx="3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② 日常运维闭环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0000" y="2191440"/>
            <a:ext cx="500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工单 / PM 计划 / 点检巡检 / 备件管理 / 工单 SLA 升级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0" y="2191440"/>
            <a:ext cx="260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9688"/>
                </a:solidFill>
                <a:latin typeface="Microsoft YaHei"/>
              </a:rPr>
              <a:t>从建单→维修→验证→关单一气呵成，超时自动升级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00000"/>
            <a:ext cx="11277000" cy="914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191440"/>
            <a:ext cx="3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③ 工艺文控闭环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000" y="3191440"/>
            <a:ext cx="500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工艺文件 / 表单模板 / 电子表单 / 文控审批链 / 分发收回 / 复审告警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0000" y="3191440"/>
            <a:ext cx="260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9688"/>
                </a:solidFill>
                <a:latin typeface="Microsoft YaHei"/>
              </a:rPr>
              <a:t>符合体系标准的受控文控，水印+指纹+留痕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00000"/>
            <a:ext cx="11277000" cy="914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191440"/>
            <a:ext cx="3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④ 品管合规闭环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0000" y="4191440"/>
            <a:ext cx="500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8D / FMEA / 安全检查 / 环境核查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0000" y="4191440"/>
            <a:ext cx="260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9688"/>
                </a:solidFill>
                <a:latin typeface="Microsoft YaHei"/>
              </a:rPr>
              <a:t>质量分析合规可追溯，证书到期提前告警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00000"/>
            <a:ext cx="11277000" cy="914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191440"/>
            <a:ext cx="3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⑤ 数据价值闭环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0000" y="5191440"/>
            <a:ext cx="500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故障知识库(工单归档+8D归档) / OEE / 设备成本 LCC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0000" y="5191440"/>
            <a:ext cx="260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9688"/>
                </a:solidFill>
                <a:latin typeface="Microsoft YaHei"/>
              </a:rPr>
              <a:t>故障经验不随人流失，LCC 一眼算清单台成本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V2026.08 版本核心更新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Key Updates in V2026.08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600000" cy="25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📚 8D → 知识库 一键归档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7200"/>
            <a:ext cx="5234240" cy="19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D0+D2 → 故障现象 / D4 → 根因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D5 → 处置 / D7 → 预防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关联 source_d8_report_id 溯源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同时保留「工单归档」入口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0000" y="1100000"/>
            <a:ext cx="5600000" cy="25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880" y="11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📋 8 大分组分级菜单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880" y="1557200"/>
            <a:ext cx="5234240" cy="19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① 总览 ② 设备管理 ③ 运维工单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④ 安全与环境 ⑤ 备件与人员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⑥ 工艺文控 ⑦ 分析改进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⑧ 系统配置（永远在最下方）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00000"/>
            <a:ext cx="5600000" cy="25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🎯 角色定制看板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57200"/>
            <a:ext cx="5234240" cy="19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6 种角色登录→不同看板组合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QA 优先：文控复审 + 8D 进度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操作员优先：设备状态 + 今日点检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0000" y="3700000"/>
            <a:ext cx="5600000" cy="25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880" y="37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🧾 审计日志入库 + 🔐 bcrypt 修复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880" y="4157200"/>
            <a:ext cx="5234240" cy="19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11 类敏感操作写入 audit_logs 表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操作人/目标/IP/UA/时间戳/详情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SHA-256 预哈希解决 bcrypt 72 字节截断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旧值透明回退 + 登录自动升级重哈希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看板总览 &amp; 角色定制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Dashboard &amp; Role Customization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000" cy="914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7160"/>
            <a:ext cx="150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管理员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00000" y="1237160"/>
            <a:ext cx="940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SLA 达成率 → 文控复审告警 → 8D 进度 → 知识库新增 → 低库存备件 → 安全检查到期 → 系统健康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00000"/>
            <a:ext cx="11277000" cy="914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37160"/>
            <a:ext cx="150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工程师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00000" y="2237160"/>
            <a:ext cx="940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我的工单 → 待验证工单 → 到期 PM → 点检 → 8D 进行中 → 相似故障推荐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100000"/>
            <a:ext cx="11277000" cy="914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37160"/>
            <a:ext cx="150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QA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00000" y="3237160"/>
            <a:ext cx="940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审核中文档 → 复审到期 → 附加修正审批 → 8D 报告 → 安全检查 → 表单审核清单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100000"/>
            <a:ext cx="11277000" cy="9144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237160"/>
            <a:ext cx="150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操作员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00000" y="4237160"/>
            <a:ext cx="940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  <a:latin typeface="Microsoft YaHei"/>
              </a:rPr>
              <a:t>设备状态总览 → 我的工单 → 今日点检 → 润滑到期 → 常用设备快速入口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400000"/>
            <a:ext cx="1127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88"/>
                </a:solidFill>
                <a:latin typeface="Microsoft YaHei"/>
              </a:rPr>
              <a:t>支持：明色青绿 / 暗色霓虹 / 跟随系统 三套模式一键切换；暗色模式做了亮度压暗专项补丁，夜班大屏久看不累。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① 设备管理 &amp; DOWN→工单自动派发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Equipment Management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000"/>
            <a:ext cx="5600000" cy="480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00000" y="1280000"/>
            <a:ext cx="5600000" cy="14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82880" y="137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设备台账 &amp; 状态切换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2880" y="1737200"/>
            <a:ext cx="5234240" cy="8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厂区/区域分类、附件上传（说明书/图纸/SOP）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任意角色切 DOWN → 自动创建 REPAIR 工单 → 自动派工程师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状态：RUN / IDLE / DOWN / PM / ENGINEERING / PROCESS_VALIDATION / OFFLINE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2800000"/>
            <a:ext cx="5600000" cy="14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880" y="28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设备全生命周期 T0-T3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880" y="3257200"/>
            <a:ext cx="5234240" cy="8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T0 选型(URS/候选供应商) → T1 采购(PO/金额/交付)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T2 安装调试(FAT/SAT) → T3 量产移交(验收结果)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时间线视图一眼看全流程进度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0000" y="4320000"/>
            <a:ext cx="5600000" cy="14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880" y="441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润滑管理（五定）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880" y="4777200"/>
            <a:ext cx="5234240" cy="8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定点/定人/定时/定质/定量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自动推算下次润滑日，到期提醒高亮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② 日常运维闭环 &amp; 工单 SLA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Daily Operations &amp; Work Order SLA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000"/>
            <a:ext cx="5600000" cy="480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00000" y="1280000"/>
            <a:ext cx="5600000" cy="13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82880" y="137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工单管理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2880" y="1737200"/>
            <a:ext cx="5234240" cy="7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创建/跟踪、紧急度标签、持续时长实时显示、关键词全文检索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详情：5Why 根因分析 + 备件领用 + 状态流转(OPEN→CLOSED)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2700000"/>
            <a:ext cx="5600000" cy="13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880" y="27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SLA &amp; 超期升级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880" y="3157200"/>
            <a:ext cx="5234240" cy="7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SLA 目标响应/解决时长（按紧急度预设）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实际时长自动计算 → SLA 达成率统计 → 超期自动升级指派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0000" y="4120000"/>
            <a:ext cx="5600000" cy="1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880" y="421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PM / 点检 / 备件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880" y="4577200"/>
            <a:ext cx="5234240" cy="10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PM：周/双周/月/季 周期，批量生成到期 PM 工单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点检：模板+检查项+历史记录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备件：库存/出入库/低库存告警/设备易损件绑定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③ 工艺文控闭环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Process Document Control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000"/>
            <a:ext cx="5600000" cy="480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00000" y="1280000"/>
            <a:ext cx="5600000" cy="13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82880" y="137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工艺文件 &amp; 结构化电子表单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82880" y="1737200"/>
            <a:ext cx="5234240" cy="7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指导性文件：版本管理，生效版唯一，同组旧版自动作废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管理员定义模板（9 种字段类型）→ 操作员动态填写 → JSON/CSV 导出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0" y="2700000"/>
            <a:ext cx="5600000" cy="15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880" y="27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文控系统（符合体系标准）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880" y="3157200"/>
            <a:ext cx="5234240" cy="9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三级电子签名审批链：编制→审核→批准（二次密码校验 + SHA256 指纹）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状态机白名单：草稿↔审核中→生效→作废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修订记录：字段级 before/after 对比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0000" y="4320000"/>
            <a:ext cx="5600000" cy="14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880" y="441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受控管理 &amp; 复审告警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880" y="4777200"/>
            <a:ext cx="5234240" cy="8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分发收回台账、PDF 自动加盖受控章水印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表单审核锁定 + 附加修正流程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复审周期告警：30 天内到期 / 已过期 Badge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④ 品管合规闭环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Quality &amp; Compliance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600000" cy="24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8D 报告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7200"/>
            <a:ext cx="5234240" cy="18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D1-D8 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8 步完整建模（团队→问题→遏制→根因→措施→验证→预防→表彰）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关联工单 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（可选），状态：DRAFT / IN_PROGRESS / CLOSED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⭐ 一键归档知识库 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：D0+D2→现象 / D4→根因 / D5→处置 / D7→预防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0000" y="1100000"/>
            <a:ext cx="5600000" cy="24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880" y="11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FMEA &amp; 环境核查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880" y="1557200"/>
            <a:ext cx="5234240" cy="18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FMEA 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：失效模式 / 影响 / S×O×D → RPN，RPN&gt;100 高亮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环境核查 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：温度/湿度/洁净度/VOC/ESD 参数录入与趋势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600000"/>
            <a:ext cx="11277000" cy="24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91440"/>
            <a:ext cx="10911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安全检查（四类）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57200"/>
            <a:ext cx="10911240" cy="18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safety_device 安全装置（防护罩/急停/联锁）/ 特种设备 / 环保 / 消防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按频率自动推算下次检查日，30 天内黄底、已过期红字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特种设备证书到期 Badge，检查发现 / 整改措施跟踪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⑤ 故障知识库（双路径归档）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Knowledge Base (Dual-Path Archive)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00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45720"/>
            <a:ext cx="14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来源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0000" y="1145720"/>
            <a:ext cx="4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000" y="1145720"/>
            <a:ext cx="52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自动映射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65760"/>
            <a:ext cx="11277000" cy="5486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7200"/>
            <a:ext cx="14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9688"/>
                </a:solidFill>
                <a:latin typeface="Microsoft YaHei"/>
              </a:rPr>
              <a:t>工单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0000" y="1557200"/>
            <a:ext cx="4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知识库→「从工单归档」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000" y="1557200"/>
            <a:ext cx="5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description→现象 / fault_category→分类 / root_cause→根因 / solution→处置 / prevention→预防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14400"/>
            <a:ext cx="11277000" cy="5486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105840"/>
            <a:ext cx="14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9688"/>
                </a:solidFill>
                <a:latin typeface="Microsoft YaHei"/>
              </a:rPr>
              <a:t>8D 报告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0000" y="2105840"/>
            <a:ext cx="4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知识库→「从 8D 归档」或 8D 列表→「归档至知识库」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000" y="2105840"/>
            <a:ext cx="5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D0+D2→现象 / D4→根因 / D5→处置 / D7→预防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63040"/>
            <a:ext cx="11277000" cy="5486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654480"/>
            <a:ext cx="14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9688"/>
                </a:solidFill>
                <a:latin typeface="Microsoft YaHei"/>
              </a:rPr>
              <a:t>手动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0000" y="2654480"/>
            <a:ext cx="4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新建条目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000" y="2654480"/>
            <a:ext cx="52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任意填写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300000"/>
            <a:ext cx="5600000" cy="27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相似案例推荐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757200"/>
            <a:ext cx="5234240" cy="21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同设备 + 同故障分类 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优先 → 退化匹配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按复发次数/浏览量倒序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新故障一眼看到以前怎么修的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6200000" y="3300000"/>
            <a:ext cx="5600000" cy="27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82880" y="33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复发追踪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2880" y="3757200"/>
            <a:ext cx="5234240" cy="21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同一根因复发 → 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点「标记复发」→ recurrence_count +1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看板/列表一眼看出哪些根因反复出现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需要重点改进的问题一目了然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⑤ 数据价值（续）：LCC &amp; OEE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LCC &amp; OEE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600000" cy="48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设备成本 LCC（全生命周期成本）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7200"/>
            <a:ext cx="5234240" cy="42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6 种成本类型：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  采购 / 维护 / 备件 / 能耗 / 折旧 / 报废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单设备汇总：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各类成本占比 + 总成本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全设备汇总：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按类型统计（饼图）+ Top10 高成本设备排名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单设备年度趋势：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按年汇总（折线图）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0000" y="1100000"/>
            <a:ext cx="5600000" cy="48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880" y="11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OEE 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880" y="1557200"/>
            <a:ext cx="5234240" cy="42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设备综合效率 = 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可用率 × 性能率 × 良品率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按设备 / 时间维度聚合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按日/周/月维度趋势图展示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设备对比分析视图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OEE 组成拆解，瓶颈定位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安全 &amp; 审计 &amp; 灾备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Security, Audit &amp; Backup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600000" cy="24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安全加固（面向局域网部署）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7200"/>
            <a:ext cx="5234240" cy="18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JWT 双令牌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：2h access + 7d refresh，5 分钟前自动续期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bcrypt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(SHA-256 预哈希，修复 72 字节截断)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密码 3/4 类字符复杂度 / 失败锁定 5 次/15min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首次登录强制改密 / 用户名枚举防护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CSP / X-Frame / CORS 白名单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6200000" y="1100000"/>
            <a:ext cx="5600000" cy="24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880" y="11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审计日志入库（审核留痕）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880" y="1557200"/>
            <a:ext cx="5234240" cy="18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11 类动作全入库：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  LOGIN_OK / FAIL / LOCKED / LOGOUT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  PASSWORD_CHANGED / RESET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  USER_CREATE / UPDATE / DELETE / UNLOCK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  RESTORE_BACKUP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每条含：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action / actor / target / ip / UA / detail /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600000"/>
            <a:ext cx="11277000" cy="24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91440"/>
            <a:ext cx="10911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灾备（3-2-1 策略）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57200"/>
            <a:ext cx="10911240" cy="18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应用内定时备份 + SQLite 热快照 + ZIP + AES-256(Fernet/PBKDF2 20万轮) + NAS/SMB/U盘异地副本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系统级旁路备份脚本（sh/bat，不依赖后端进程也能跑）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备份后自动烟雾还原测试：解压→打开 sqlite→查表行数→校验 uploads，永远知道备份能不能真还原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部署方案选型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Deployment Options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00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45720"/>
            <a:ext cx="28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3D91"/>
                </a:solidFill>
                <a:latin typeface="Microsoft YaHei"/>
              </a:rPr>
              <a:t>场景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8640" y="1145720"/>
            <a:ext cx="3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3D91"/>
                </a:solidFill>
                <a:latin typeface="Microsoft YaHei"/>
              </a:rPr>
              <a:t>推荐部署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8640" y="1145720"/>
            <a:ext cx="16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3D91"/>
                </a:solidFill>
                <a:latin typeface="Microsoft YaHei"/>
              </a:rPr>
              <a:t>自启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48640" y="1145720"/>
            <a:ext cx="18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3D91"/>
                </a:solidFill>
                <a:latin typeface="Microsoft YaHei"/>
              </a:rPr>
              <a:t>崩溃重启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48640" y="1145720"/>
            <a:ext cx="2077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3D91"/>
                </a:solidFill>
                <a:latin typeface="Microsoft YaHei"/>
              </a:rPr>
              <a:t>健康检查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465760"/>
            <a:ext cx="11277000" cy="5486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557200"/>
            <a:ext cx="28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工厂 Linux 有 root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8640" y="1557200"/>
            <a:ext cx="30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systemd（方案 A）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8640" y="1557200"/>
            <a:ext cx="16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✅ 开机自启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48640" y="1557200"/>
            <a:ext cx="18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✅ on-failure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48640" y="1557200"/>
            <a:ext cx="2077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✅ cron 2min→重启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014400"/>
            <a:ext cx="11277000" cy="5486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105840"/>
            <a:ext cx="28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普通用户 / 受限 Linux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8640" y="2105840"/>
            <a:ext cx="30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watchdog_user.sh（方案 B）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8640" y="2105840"/>
            <a:ext cx="16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✅ @reboot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48640" y="2105840"/>
            <a:ext cx="18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✅ 每分钟 tick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48640" y="2105840"/>
            <a:ext cx="2077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✅ 同上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563040"/>
            <a:ext cx="11277000" cy="5486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654480"/>
            <a:ext cx="28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Windows Server / 工控机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640" y="2654480"/>
            <a:ext cx="30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NSSM + 任务计划（方案 C）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8640" y="2654480"/>
            <a:ext cx="16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✅ 延迟自启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48640" y="2654480"/>
            <a:ext cx="18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✅ NSSM + SC failure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48640" y="2654480"/>
            <a:ext cx="2077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✅ 2min 计划任务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111680"/>
            <a:ext cx="11277000" cy="5486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203120"/>
            <a:ext cx="28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容器化 / 快速体验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48640" y="3203120"/>
            <a:ext cx="30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Docker Compose（方案 D）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8640" y="3203120"/>
            <a:ext cx="16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✅ unless-stopped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8640" y="3203120"/>
            <a:ext cx="18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✅ compose restart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8640" y="3203120"/>
            <a:ext cx="2077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✅ healthcheck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751760"/>
            <a:ext cx="11277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9688"/>
                </a:solidFill>
                <a:latin typeface="Microsoft YaHei"/>
              </a:rPr>
              <a:t>入口级加固：端口占用友好提示 / SQLite WAL checkpoint 钩子 / uvicorn 优雅退出 / 日志双写（journald + 按天滚动 14/30 天）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默认账号 &amp; 演示数据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Default Accounts &amp; Demo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1127700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45720"/>
            <a:ext cx="2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3D91"/>
                </a:solidFill>
                <a:latin typeface="Microsoft YaHei"/>
              </a:rPr>
              <a:t>账号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8640" y="1145720"/>
            <a:ext cx="2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3D91"/>
                </a:solidFill>
                <a:latin typeface="Microsoft YaHei"/>
              </a:rPr>
              <a:t>角色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48640" y="1145720"/>
            <a:ext cx="2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3D91"/>
                </a:solidFill>
                <a:latin typeface="Microsoft YaHei"/>
              </a:rPr>
              <a:t>默认密码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8640" y="1145720"/>
            <a:ext cx="4777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3D91"/>
                </a:solidFill>
                <a:latin typeface="Microsoft YaHei"/>
              </a:rPr>
              <a:t>典型工作内容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65760"/>
            <a:ext cx="11277000" cy="4572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557200"/>
            <a:ext cx="2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8640" y="1557200"/>
            <a:ext cx="2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管理员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8640" y="1557200"/>
            <a:ext cx="2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admin123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8640" y="1557200"/>
            <a:ext cx="4777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全功能 / 用户与权限 / 备份与恢复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22960"/>
            <a:ext cx="11277000" cy="4572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014400"/>
            <a:ext cx="2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engineer1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640" y="2014400"/>
            <a:ext cx="2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张工 工程师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8640" y="2014400"/>
            <a:ext cx="2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eng123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640" y="2014400"/>
            <a:ext cx="4777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工单处置 / 8D / 知识库录入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380160"/>
            <a:ext cx="11277000" cy="4572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471600"/>
            <a:ext cx="2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process1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48640" y="2471600"/>
            <a:ext cx="2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周工艺 工艺员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8640" y="2471600"/>
            <a:ext cx="2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proc123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640" y="2471600"/>
            <a:ext cx="4777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工艺文件 / 电子表单 / 提交文控审核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837360"/>
            <a:ext cx="11277000" cy="4572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28800"/>
            <a:ext cx="2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qa1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48640" y="2928800"/>
            <a:ext cx="2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陈品管 QA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8640" y="2928800"/>
            <a:ext cx="2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qa123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640" y="2928800"/>
            <a:ext cx="4777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文控审核批准 / 8D / FMEA / 安全检查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294560"/>
            <a:ext cx="11277000" cy="4572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386000"/>
            <a:ext cx="2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operator1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48640" y="3386000"/>
            <a:ext cx="2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王操作 操作员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8640" y="3386000"/>
            <a:ext cx="2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op123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640" y="3386000"/>
            <a:ext cx="4777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切换设备状态 / 点检 / 电子表单填写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51760"/>
            <a:ext cx="11277000" cy="4572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843200"/>
            <a:ext cx="2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viewer1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48640" y="3843200"/>
            <a:ext cx="25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孙查看 查看者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48640" y="3843200"/>
            <a:ext cx="2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view123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640" y="3843200"/>
            <a:ext cx="4777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只读浏览（设备/工单/文档/知识）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391840"/>
            <a:ext cx="11277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9688"/>
                </a:solidFill>
                <a:latin typeface="Microsoft YaHei"/>
              </a:rPr>
              <a:t>演示数据开箱即有：10 台设备 + 27 条状态日志 + 16 附件 + 14 备件 + 12 工单 + 4 份 8D 报告 + 14 工艺文件 + 12 安全检查 + 9 润滑点 + 9 条故障知识 + 31 成本记录 等 30+ 类记录。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技术栈 &amp; 扩展路线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Tech Stack &amp;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600000" cy="35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当前技术栈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7200"/>
            <a:ext cx="5234240" cy="29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后端：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Python 3.10+ / FastAPI / SQLAlchemy 2.0 / SQLite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前端：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Vue 3 / Vite / Element Plus / ECharts / Pinia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安全：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JWT / bcrypt(+SHA256 prehash) / CSP / CORS 白名单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备份：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SQLite hot backup / ZIP / Fernet AES-256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打包：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Docker / systemd / NSSM / PyInstaller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0000" y="1100000"/>
            <a:ext cx="5600000" cy="1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880" y="11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短期扩展路线（Q4 规划）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880" y="1557200"/>
            <a:ext cx="5234240" cy="10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① 审计日志前端界面化（查询/导出 CSV）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② 知识条目审核流（草稿→QA 审核→生效）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③ 8D 报告通知（钉钉/飞书 Webhook）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④ 备品低库存自动建采购申请单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00000" y="2900000"/>
            <a:ext cx="5600000" cy="17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880" y="29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中期扩展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880" y="3357200"/>
            <a:ext cx="5234240" cy="11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对接 MES：设备状态 / 工艺参数自动上传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对接 SCADA：关键机台参数趋势、阈值报警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C3E50"/>
                </a:solidFill>
                <a:latin typeface="Microsoft YaHei"/>
              </a:rPr>
              <a:t>移动端（微信小程序/钉钉微应用）：点检 / 工单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文档索引 &amp; 更新记录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Documentation &amp; Changelog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00000"/>
            <a:ext cx="5600000" cy="25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文档索引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7200"/>
            <a:ext cx="5234240" cy="19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README.md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 — 部署 &amp; 架构详情 &amp; 安全说明 &amp; 灾备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用户使用教程.md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 — 日常使用操作手册（按角色分步骤）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SEMS_功能介绍_最新版.md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 — PPT 文字源（本文件）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SEMS_UI设计评审与方案对比.pptx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 — UI 设计方案评审对比</a:t>
            </a:r>
          </a:p>
        </p:txBody>
      </p:sp>
      <p:sp>
        <p:nvSpPr>
          <p:cNvPr id="8" name="Rectangle 7"/>
          <p:cNvSpPr/>
          <p:nvPr/>
        </p:nvSpPr>
        <p:spPr>
          <a:xfrm>
            <a:off x="6200000" y="1100000"/>
            <a:ext cx="5600000" cy="25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880" y="1191440"/>
            <a:ext cx="523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3D91"/>
                </a:solidFill>
                <a:latin typeface="Microsoft YaHei"/>
              </a:rPr>
              <a:t>更新记录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880" y="1557200"/>
            <a:ext cx="5234240" cy="19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V2026.08：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8D→知识库双归档、8 组分级菜单、角色看板、审计日志入库、bcrypt 截断修复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V2026.06：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文控系统(三级签名)、安全检查、润滑管理、工单 SLA、设备生命周期、知识库、LCC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09688"/>
                </a:solidFill>
                <a:latin typeface="Microsoft YaHei"/>
              </a:rPr>
              <a:t>V2026.04：</a:t>
            </a:r>
            <a:r>
              <a:rPr sz="1200" b="0">
                <a:solidFill>
                  <a:srgbClr val="2C3E50"/>
                </a:solidFill>
                <a:latin typeface="Microsoft YaHei"/>
              </a:rPr>
              <a:t>B+C 双皮肤主题、表单模板结构化电子表单、DOWN→工单自动派发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00000"/>
            <a:ext cx="11277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3D91"/>
                </a:solidFill>
                <a:latin typeface="Microsoft YaHei"/>
              </a:rPr>
              <a:t>默认账号：admin / admin123（首次登录强制改密）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200000"/>
            <a:ext cx="11277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9688"/>
                </a:solidFill>
                <a:latin typeface="Microsoft YaHei"/>
              </a:rPr>
              <a:t>感谢观看！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【管理 0】业务管理流程总览 · 8 大管理闭环 × 角色分工矩阵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Business Management Workflow Overview · 8 Loops × RACI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0000"/>
            <a:ext cx="780000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5720"/>
            <a:ext cx="7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3D91"/>
                </a:solidFill>
                <a:latin typeface="Microsoft YaHei"/>
              </a:rPr>
              <a:t>编号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8640" y="1095720"/>
            <a:ext cx="33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3D91"/>
                </a:solidFill>
                <a:latin typeface="Microsoft YaHei"/>
              </a:rPr>
              <a:t>管理闭环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48640" y="1095720"/>
            <a:ext cx="3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3D91"/>
                </a:solidFill>
                <a:latin typeface="Microsoft YaHei"/>
              </a:rPr>
              <a:t>范围（业务闭环）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8640" y="1095720"/>
            <a:ext cx="8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3D91"/>
                </a:solidFill>
                <a:latin typeface="Microsoft YaHei"/>
              </a:rPr>
              <a:t>主责角色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5760"/>
            <a:ext cx="7800000" cy="55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415760"/>
            <a:ext cx="700000" cy="550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0000" y="1535760"/>
            <a:ext cx="3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3D91"/>
                </a:solidFill>
                <a:latin typeface="Microsoft YaHei"/>
              </a:rPr>
              <a:t>设备全生命周期管理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0000" y="1515760"/>
            <a:ext cx="30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选型→采购→验收→移交→运行→报废；状态切换/DOWN派工/润滑五定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0000" y="1535760"/>
            <a:ext cx="7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B3D91"/>
                </a:solidFill>
                <a:latin typeface="Microsoft YaHei"/>
              </a:rPr>
              <a:t>管理员/工程师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965760"/>
            <a:ext cx="7800000" cy="5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965760"/>
            <a:ext cx="700000" cy="5500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0000" y="2085760"/>
            <a:ext cx="3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74C3C"/>
                </a:solidFill>
                <a:latin typeface="Microsoft YaHei"/>
              </a:rPr>
              <a:t>故障响应管理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00000" y="2065760"/>
            <a:ext cx="30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DOWN触发→派工→5Why处置→SLA升级→验证→关单→月度考核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0000" y="2085760"/>
            <a:ext cx="7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B3D91"/>
                </a:solidFill>
                <a:latin typeface="Microsoft YaHei"/>
              </a:rPr>
              <a:t>全员/工程师/QA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515760"/>
            <a:ext cx="7800000" cy="55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515760"/>
            <a:ext cx="700000" cy="5500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000" y="2635760"/>
            <a:ext cx="3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39C12"/>
                </a:solidFill>
                <a:latin typeface="Microsoft YaHei"/>
              </a:rPr>
              <a:t>预防性维护管理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0000" y="2615760"/>
            <a:ext cx="30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PM计划审批→到期生成工单→执行→验收→漏做追责；点检异常联动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0000" y="2635760"/>
            <a:ext cx="7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B3D91"/>
                </a:solidFill>
                <a:latin typeface="Microsoft YaHei"/>
              </a:rPr>
              <a:t>管理员/工程师/操作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065760"/>
            <a:ext cx="7800000" cy="5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065760"/>
            <a:ext cx="700000" cy="5500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00000" y="3185760"/>
            <a:ext cx="3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7AE60"/>
                </a:solidFill>
                <a:latin typeface="Microsoft YaHei"/>
              </a:rPr>
              <a:t>文控合规管理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00000" y="3165760"/>
            <a:ext cx="30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编制→审核→批准→分发→复审→作废；三级签名+受控水印+指纹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00000" y="3185760"/>
            <a:ext cx="7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B3D91"/>
                </a:solidFill>
                <a:latin typeface="Microsoft YaHei"/>
              </a:rPr>
              <a:t>工艺/QA/管理员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615760"/>
            <a:ext cx="7800000" cy="55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615760"/>
            <a:ext cx="700000" cy="5500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0000" y="3735760"/>
            <a:ext cx="3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73E8"/>
                </a:solidFill>
                <a:latin typeface="Microsoft YaHei"/>
              </a:rPr>
              <a:t>电子表单治理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0000" y="3715760"/>
            <a:ext cx="30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模板立项→字段配置→QA启用审批→填写→审核锁定→附加修正→导出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0000" y="3735760"/>
            <a:ext cx="7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B3D91"/>
                </a:solidFill>
                <a:latin typeface="Microsoft YaHei"/>
              </a:rPr>
              <a:t>管理员/工艺/QA/操作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65760"/>
            <a:ext cx="7800000" cy="5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4165760"/>
            <a:ext cx="700000" cy="5500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00000" y="4285760"/>
            <a:ext cx="3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E44AD"/>
                </a:solidFill>
                <a:latin typeface="Microsoft YaHei"/>
              </a:rPr>
              <a:t>品质改进管理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00000" y="4265760"/>
            <a:ext cx="30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8D团队+时限→FMEA RPN阈值处置→安全检查+证书→整改闭环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00000" y="4285760"/>
            <a:ext cx="7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B3D91"/>
                </a:solidFill>
                <a:latin typeface="Microsoft YaHei"/>
              </a:rPr>
              <a:t>QA/工程师/管理员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715760"/>
            <a:ext cx="7800000" cy="55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4715760"/>
            <a:ext cx="700000" cy="550000"/>
          </a:xfrm>
          <a:prstGeom prst="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00000" y="4835760"/>
            <a:ext cx="3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688"/>
                </a:solidFill>
                <a:latin typeface="Microsoft YaHei"/>
              </a:rPr>
              <a:t>知识沉淀与复发治理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00000" y="4815760"/>
            <a:ext cx="30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双路径归档→QA审核发布→相似推荐→复发计数→根因根治立项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00000" y="4835760"/>
            <a:ext cx="7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B3D91"/>
                </a:solidFill>
                <a:latin typeface="Microsoft YaHei"/>
              </a:rPr>
              <a:t>QA/工程师/管理员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265760"/>
            <a:ext cx="7800000" cy="5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265760"/>
            <a:ext cx="700000" cy="550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⑧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00000" y="5385760"/>
            <a:ext cx="33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B3D91"/>
                </a:solidFill>
                <a:latin typeface="Microsoft YaHei"/>
              </a:rPr>
              <a:t>备件与库存管理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00000" y="5365760"/>
            <a:ext cx="30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申购→入库→领用绑定工单→低库存告警→盘点→报废；易损件绑定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00000" y="5385760"/>
            <a:ext cx="7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B3D91"/>
                </a:solidFill>
                <a:latin typeface="Microsoft YaHei"/>
              </a:rPr>
              <a:t>管理员/仓库/工程师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00000" y="1050000"/>
            <a:ext cx="3350000" cy="48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82880" y="1141440"/>
            <a:ext cx="298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E44AD"/>
                </a:solidFill>
                <a:latin typeface="Microsoft YaHei"/>
              </a:rPr>
              <a:t>🎯 角色 × 管理项（R=负责/A=审批/C=咨询/I=知会）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82880" y="1507200"/>
            <a:ext cx="2984240" cy="4251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管理员 A：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⑧全责，①②③④⑤⑥⑦ A/R 审批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工程师 R：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①②③⑦ R（执行主责），⑥ C，⑧ C 领用备件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工艺员 R：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④文件编制 R，⑤模板立项 C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QA A/R：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④文控审核批准 A/R，⑤表单审核 A，⑥品质改进 R，⑦知识审核 A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操作员 R：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②故障上报 R，③PM/点检执行 R，⑤表单填写 R，①状态切换 R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查看者 I：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全部 8 个业务模块只读浏览 I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/>
            </a:r>
            <a:r>
              <a:rPr sz="1000" b="0">
                <a:solidFill>
                  <a:srgbClr val="2C3E50"/>
                </a:solidFill>
                <a:latin typeface="Microsoft YaHei"/>
              </a:rPr>
              <a:t/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业务红线：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文控批准 / 知识发布 / 备件报废 / 批量关单 — 必须管理员或 QA 双签才能生效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5750000"/>
            <a:ext cx="11277000" cy="8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790000"/>
            <a:ext cx="1100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📌 说明：以下 P18-P25 每页对应一个业务管理闭环，统一结构为「阶段泳道（责任角色/动作/交付物）→ 专项治理矩阵 → KPI考核指标 → 异常处理红线规则」（账号权限/备份/灾备等系统治理工作，不属于本业务管理流程范围）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【管理 1】设备全生命周期管理流程（资产 + 状态 + 润滑）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Equipment Lifecycle Management (Asset · Status · Lubrication)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0000"/>
            <a:ext cx="1546166" cy="1400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250000"/>
            <a:ext cx="400000" cy="40000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200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44AD"/>
                </a:solidFill>
                <a:latin typeface="Microsoft YaHei"/>
              </a:rPr>
              <a:t>T0 选型立项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50000"/>
            <a:ext cx="1800000" cy="3600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责任：管理员/采购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动作：URS撰写→候选供应商筛选→技术评审→预算审批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输出：URS文档 / 选型报告 / 预算签核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003366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03366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03366" y="1050000"/>
            <a:ext cx="1546166" cy="1400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40526" y="1250000"/>
            <a:ext cx="400000" cy="40000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3366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  <a:latin typeface="Microsoft YaHei"/>
              </a:rPr>
              <a:t>T1 采购签约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40526" y="1750000"/>
            <a:ext cx="1800000" cy="3600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责任：管理员/采购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0526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动作：PO下单→商务条款→交期约定→金额/成本登记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0526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输出：采购合同 / PO单号 / 成本台账(采购类)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949532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9532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9532" y="1050000"/>
            <a:ext cx="1546166" cy="1400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86692" y="1250000"/>
            <a:ext cx="400000" cy="40000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9532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9C12"/>
                </a:solidFill>
                <a:latin typeface="Microsoft YaHei"/>
              </a:rPr>
              <a:t>T2 安装调试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6692" y="1750000"/>
            <a:ext cx="1800000" cy="3600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责任：工程师/供应商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6692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动作：到货验收→FAT厂验→SAT现场→Commissioning→问题整改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6692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输出：FAT/SAT报告 / 调试记录 / 整改清单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895698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5698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95698" y="1050000"/>
            <a:ext cx="1546166" cy="1400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32858" y="1250000"/>
            <a:ext cx="400000" cy="4000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5698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  <a:latin typeface="Microsoft YaHei"/>
              </a:rPr>
              <a:t>T3 量产移交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32858" y="1750000"/>
            <a:ext cx="1800000" cy="3600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责任：QA/管理员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2858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动作：最终验收→设备编号/台账入档→文件归档→责任人分配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2858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输出：验收报告 / 设备档案 / 附件(说明书/图纸)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841864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41864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41864" y="1050000"/>
            <a:ext cx="1546166" cy="140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379024" y="1250000"/>
            <a:ext cx="400000" cy="400000"/>
          </a:xfrm>
          <a:prstGeom prst="ellipse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11864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3D91"/>
                </a:solidFill>
                <a:latin typeface="Microsoft YaHei"/>
              </a:rPr>
              <a:t>T3+ 运行治理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79024" y="1750000"/>
            <a:ext cx="1800000" cy="360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责任：工程师/操作员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9024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动作：状态7色实时切换→DOWN自动派工→润滑五定执行→点检记录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9024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输出：状态日志 / 工单关联 / 润滑执行台账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9788030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88030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88030" y="1050000"/>
            <a:ext cx="1546166" cy="1400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25190" y="1250000"/>
            <a:ext cx="400000" cy="40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58030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74C3C"/>
                </a:solidFill>
                <a:latin typeface="Microsoft YaHei"/>
              </a:rPr>
              <a:t>T4 退役报废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25190" y="1750000"/>
            <a:ext cx="1800000" cy="3600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责任：管理员/财务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25190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动作：LCC成本汇总→技术鉴定→资产报废→备件回收→状态OFFLINE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25190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输出：报废审批 / 成本决算 / 残值处理台账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3800000"/>
            <a:ext cx="11277000" cy="1700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3891440"/>
            <a:ext cx="11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🛢 润滑子流程（五定治理）：管理员定标准 → 工程师分配责任人 → 操作员按频执行 → 漏做高亮 → 逾期追责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4240000"/>
            <a:ext cx="2100000" cy="115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280000"/>
            <a:ext cx="19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688"/>
                </a:solidFill>
                <a:latin typeface="Microsoft YaHei"/>
              </a:rPr>
              <a:t>▌定点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" y="4580000"/>
            <a:ext cx="19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位置+点位编号→录入系统绑定设备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4940000"/>
            <a:ext cx="19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7AE60"/>
                </a:solidFill>
                <a:latin typeface="Microsoft YaHei"/>
              </a:rPr>
              <a:t>✅ 工程师确认点位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840080" y="4240000"/>
            <a:ext cx="2100000" cy="115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31520" y="4280000"/>
            <a:ext cx="19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688"/>
                </a:solidFill>
                <a:latin typeface="Microsoft YaHei"/>
              </a:rPr>
              <a:t>▌定人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1520" y="4580000"/>
            <a:ext cx="19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每点唯一责任人，离岗需交接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31520" y="4940000"/>
            <a:ext cx="19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7AE60"/>
                </a:solidFill>
                <a:latin typeface="Microsoft YaHei"/>
              </a:rPr>
              <a:t>✅ 交接清单管理员确认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40080" y="4240000"/>
            <a:ext cx="2100000" cy="115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131520" y="4280000"/>
            <a:ext cx="19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688"/>
                </a:solidFill>
                <a:latin typeface="Microsoft YaHei"/>
              </a:rPr>
              <a:t>▌定时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31520" y="4580000"/>
            <a:ext cx="19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周期(日/周/月)→系统算next_date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31520" y="4940000"/>
            <a:ext cx="19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7AE60"/>
                </a:solidFill>
                <a:latin typeface="Microsoft YaHei"/>
              </a:rPr>
              <a:t>✅ 看板到期Badge黄/红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40080" y="4240000"/>
            <a:ext cx="2100000" cy="115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331520" y="4280000"/>
            <a:ext cx="19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688"/>
                </a:solidFill>
                <a:latin typeface="Microsoft YaHei"/>
              </a:rPr>
              <a:t>▌定质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31520" y="4580000"/>
            <a:ext cx="19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油品/粘度/等级→写在点位说明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31520" y="4940000"/>
            <a:ext cx="19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7AE60"/>
                </a:solidFill>
                <a:latin typeface="Microsoft YaHei"/>
              </a:rPr>
              <a:t>✅ 换油需附MSDS附件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440080" y="4240000"/>
            <a:ext cx="2100000" cy="115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31520" y="4280000"/>
            <a:ext cx="19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688"/>
                </a:solidFill>
                <a:latin typeface="Microsoft YaHei"/>
              </a:rPr>
              <a:t>▌定量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531520" y="4580000"/>
            <a:ext cx="19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用量(ml/g)→写在点位说明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31520" y="4940000"/>
            <a:ext cx="19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7AE60"/>
                </a:solidFill>
                <a:latin typeface="Microsoft YaHei"/>
              </a:rPr>
              <a:t>✅ 异常消耗进LCC维护类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5750000"/>
            <a:ext cx="5600000" cy="900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584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📊 KPI / 考核指标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0080" y="6140000"/>
            <a:ext cx="54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DOWN机数/占比（按厂区/区域排名）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状态切换合规率（原因必填率 ≥95%）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润滑按期执行率 ≥98%（逾期追责到人）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设备台账完整率（附件+易损件绑定率）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00000" y="5750000"/>
            <a:ext cx="5550000" cy="9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50000" y="584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Microsoft YaHei"/>
              </a:rPr>
              <a:t>⚠ 异常处理 / 治理规则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50000" y="6140000"/>
            <a:ext cx="54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连续7日不更新状态 → 管理员看板红标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DOWN不填原因 → 审计日志标疑似漏填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润滑漏做超3次/季度 → 责任人绩效扣项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报废未走T4 → 资产账与系统账差异稽核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【管理 2】故障响应管理流程（DOWN → SLA → 升级 → 考核）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Fault Response Management (DOWN → SLA → Escalation → KPI)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0000"/>
            <a:ext cx="1546166" cy="1400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250000"/>
            <a:ext cx="400000" cy="40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200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74C3C"/>
                </a:solidFill>
                <a:latin typeface="Microsoft YaHei"/>
              </a:rPr>
              <a:t>发现与上报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50000"/>
            <a:ext cx="1800000" cy="3600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责任：操作员/全员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动作：发现异常→切DOWN→填现象→系统自动建REPAIR工单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输出：DOWN状态日志 / 自动工单 / 通知工程师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003366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03366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03366" y="1050000"/>
            <a:ext cx="1546166" cy="1400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40526" y="1250000"/>
            <a:ext cx="400000" cy="40000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3366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9C12"/>
                </a:solidFill>
                <a:latin typeface="Microsoft YaHei"/>
              </a:rPr>
              <a:t>派工与响应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40526" y="1750000"/>
            <a:ext cx="1800000" cy="3600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责任：工程师/管理员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0526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动作：接单(或自动派)→actual_start时间戳→现场确认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0526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输出：响应时长 = actual_start - created_at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949532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9532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9532" y="1050000"/>
            <a:ext cx="1546166" cy="140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86692" y="1250000"/>
            <a:ext cx="400000" cy="400000"/>
          </a:xfrm>
          <a:prstGeom prst="ellipse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9532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3D91"/>
                </a:solidFill>
                <a:latin typeface="Microsoft YaHei"/>
              </a:rPr>
              <a:t>处置与5Why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6692" y="1750000"/>
            <a:ext cx="1800000" cy="360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责任：工程师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6692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动作：备件领用→5Why根因→处置→预防→填解决方案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6692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输出：5Why记录 / 备件出库 / 故障分类+根因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895698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5698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95698" y="1050000"/>
            <a:ext cx="1546166" cy="1400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32858" y="1250000"/>
            <a:ext cx="400000" cy="40000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5698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44AD"/>
                </a:solidFill>
                <a:latin typeface="Microsoft YaHei"/>
              </a:rPr>
              <a:t>SLA超时升级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32858" y="1750000"/>
            <a:ext cx="1800000" cy="3600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责任：管理员/主管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2858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动作：响应或解决超目标→一键升级→改派高级工程师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2858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输出：升级记录(谁/何时/目标/原因) / 超期工单统计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841864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41864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41864" y="1050000"/>
            <a:ext cx="1546166" cy="1400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379024" y="1250000"/>
            <a:ext cx="400000" cy="40000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11864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  <a:latin typeface="Microsoft YaHei"/>
              </a:rPr>
              <a:t>验证与关闭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79024" y="1750000"/>
            <a:ext cx="1800000" cy="3600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责任：工艺/操作员/QA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9024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动作：转PENDING_VERIFY→现场验证→CLOSED或退回IN_PROGRESS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9024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输出：验证人/时间 / 实际解决时长actual_end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9788030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88030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88030" y="1050000"/>
            <a:ext cx="1546166" cy="140000"/>
          </a:xfrm>
          <a:prstGeom prst="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25190" y="1250000"/>
            <a:ext cx="400000" cy="40000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58030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88"/>
                </a:solidFill>
                <a:latin typeface="Microsoft YaHei"/>
              </a:rPr>
              <a:t>复盘与考核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25190" y="1750000"/>
            <a:ext cx="1800000" cy="360000"/>
          </a:xfrm>
          <a:prstGeom prst="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责任：管理员/QA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25190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动作：SLA达成率统计→超时追责→复发次数→月度复盘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25190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输出：月度SLA报告 / 工程师排名 / 改善项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3800000"/>
            <a:ext cx="11277000" cy="1750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3891440"/>
            <a:ext cx="11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⏱ SLA 目标矩阵（按紧急度）· 超任一目标 = 超期工单（SLA违约）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4240000"/>
            <a:ext cx="2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688"/>
                </a:solidFill>
                <a:latin typeface="Microsoft YaHei"/>
              </a:rPr>
              <a:t>紧急度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40080" y="4240000"/>
            <a:ext cx="2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688"/>
                </a:solidFill>
                <a:latin typeface="Microsoft YaHei"/>
              </a:rPr>
              <a:t>响应时长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40080" y="4240000"/>
            <a:ext cx="2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688"/>
                </a:solidFill>
                <a:latin typeface="Microsoft YaHei"/>
              </a:rPr>
              <a:t>解决时长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40080" y="4240000"/>
            <a:ext cx="3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9688"/>
                </a:solidFill>
                <a:latin typeface="Microsoft YaHei"/>
              </a:rPr>
              <a:t>升级到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" y="4520000"/>
            <a:ext cx="2450000" cy="23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" y="4565000"/>
            <a:ext cx="232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Microsoft YaHei"/>
              </a:rPr>
              <a:t>URGENT 紧急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40080" y="4520000"/>
            <a:ext cx="2450000" cy="23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31520" y="4565000"/>
            <a:ext cx="232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≤ 15 分钟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40080" y="4520000"/>
            <a:ext cx="2450000" cy="23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31520" y="4565000"/>
            <a:ext cx="232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≤ 2 小时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40080" y="4520000"/>
            <a:ext cx="3450000" cy="23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31520" y="4565000"/>
            <a:ext cx="332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设备主管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" y="4770000"/>
            <a:ext cx="2450000" cy="23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31520" y="4815000"/>
            <a:ext cx="232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39C12"/>
                </a:solidFill>
                <a:latin typeface="Microsoft YaHei"/>
              </a:rPr>
              <a:t>HIGH 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140080" y="4770000"/>
            <a:ext cx="2450000" cy="23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31520" y="4815000"/>
            <a:ext cx="232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≤ 30 分钟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640080" y="4770000"/>
            <a:ext cx="2450000" cy="23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731520" y="4815000"/>
            <a:ext cx="232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≤ 4 小时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140080" y="4770000"/>
            <a:ext cx="3450000" cy="23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31520" y="4815000"/>
            <a:ext cx="332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主管工程师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0080" y="5020000"/>
            <a:ext cx="2450000" cy="23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1520" y="5065000"/>
            <a:ext cx="232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Microsoft YaHei"/>
              </a:rPr>
              <a:t>NORMAL 中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140080" y="5020000"/>
            <a:ext cx="2450000" cy="23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231520" y="5065000"/>
            <a:ext cx="232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≤ 1 小时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40080" y="5020000"/>
            <a:ext cx="2450000" cy="23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1520" y="5065000"/>
            <a:ext cx="232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≤ 8 小时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40080" y="5020000"/>
            <a:ext cx="3450000" cy="23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31520" y="5065000"/>
            <a:ext cx="332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工程师组长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40080" y="5270000"/>
            <a:ext cx="2450000" cy="23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31520" y="5315000"/>
            <a:ext cx="232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7F8C8D"/>
                </a:solidFill>
                <a:latin typeface="Microsoft YaHei"/>
              </a:rPr>
              <a:t>LOW 低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140080" y="5270000"/>
            <a:ext cx="2450000" cy="23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231520" y="5315000"/>
            <a:ext cx="232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≤ 2 小时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40080" y="5270000"/>
            <a:ext cx="2450000" cy="23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31520" y="5315000"/>
            <a:ext cx="232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≤ 24 小时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140080" y="5270000"/>
            <a:ext cx="3450000" cy="23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31520" y="5315000"/>
            <a:ext cx="332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C3E50"/>
                </a:solidFill>
                <a:latin typeface="Microsoft YaHei"/>
              </a:rPr>
              <a:t>不升级，记录原因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57200" y="5700000"/>
            <a:ext cx="5600000" cy="900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0080" y="57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📊 KPI / 考核指标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0080" y="6090000"/>
            <a:ext cx="54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工单SLA达成率（按紧急度/按工程师/按月）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平均响应时长(MTTR) / 平均解决时长(MTBF分母)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超期工单数量 / 占比（月度趋势下降）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5Why填写率 / 根因空值率（目标 0%）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200000" y="5700000"/>
            <a:ext cx="5550000" cy="9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350000" y="57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Microsoft YaHei"/>
              </a:rPr>
              <a:t>⚠ 异常处理 / 治理规则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50000" y="6090000"/>
            <a:ext cx="54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30分钟无人接单 → 管理员看板通知 + 邮件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超SLA未升级 → 管理员操作合规扣分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根因空关单 → 退回补填，QA复核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同一设备同根因复发≥3 → 强制开8D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【管理 3】预防性维护管理流程（PM计划 + 点检巡检 + 漏做追责）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Preventive Maintenance Management (PM Plan · Inspection · Trace)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0000"/>
            <a:ext cx="1546166" cy="140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250000"/>
            <a:ext cx="400000" cy="400000"/>
          </a:xfrm>
          <a:prstGeom prst="ellipse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200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3D91"/>
                </a:solidFill>
                <a:latin typeface="Microsoft YaHei"/>
              </a:rPr>
              <a:t>PM计划编制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50000"/>
            <a:ext cx="1800000" cy="360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责任：工程师/管理员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动作：按设备重要度分级→定周期(周/双周/月/季/半年/年)→列维护内容清单→审批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输出：PM计划清单 / 周期标准 / 备件预需求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003366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03366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03366" y="1050000"/>
            <a:ext cx="1546166" cy="1400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40526" y="1250000"/>
            <a:ext cx="400000" cy="40000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3366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  <a:latin typeface="Microsoft YaHei"/>
              </a:rPr>
              <a:t>点检模板治理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40526" y="1750000"/>
            <a:ext cx="1800000" cy="3600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责任：QA/工程师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0526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动作：定义检查项(9种类型)+标准值+上下限→启用审批→变更留痕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0526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输出：点检模板库 / 标准值变更记录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949532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9532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9532" y="1050000"/>
            <a:ext cx="1546166" cy="1400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86692" y="1250000"/>
            <a:ext cx="400000" cy="40000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9532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9C12"/>
                </a:solidFill>
                <a:latin typeface="Microsoft YaHei"/>
              </a:rPr>
              <a:t>到期生成工单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6692" y="1750000"/>
            <a:ext cx="1800000" cy="3600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责任：管理员/PM责任人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6692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动作：系统检测next_due→批量生成PM类型工单→自动派给计划责任人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6692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输出：PM工单 / 到期Badge看板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895698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5698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95698" y="1050000"/>
            <a:ext cx="1546166" cy="1400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32858" y="1250000"/>
            <a:ext cx="400000" cy="40000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5698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44AD"/>
                </a:solidFill>
                <a:latin typeface="Microsoft YaHei"/>
              </a:rPr>
              <a:t>执行与记录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32858" y="1750000"/>
            <a:ext cx="1800000" cy="3600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责任：工程师/操作员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2858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动作：按PM清单/点检模板逐项执行→备件消耗→异常项登记→可直接触发出工单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2858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输出：执行记录 / 异常报告 / 关联REPAIR工单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841864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41864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41864" y="1050000"/>
            <a:ext cx="1546166" cy="1400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379024" y="1250000"/>
            <a:ext cx="400000" cy="4000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11864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  <a:latin typeface="Microsoft YaHei"/>
              </a:rPr>
              <a:t>验收与关闭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79024" y="1750000"/>
            <a:ext cx="1800000" cy="3600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责任：QA/管理员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9024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动作：抽检比例≥10%→照片核对→签字→关单；漏填/造假→退回重填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9024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输出：验收记录 / 抽检结果台账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9788030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88030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88030" y="1050000"/>
            <a:ext cx="1546166" cy="140000"/>
          </a:xfrm>
          <a:prstGeom prst="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25190" y="1250000"/>
            <a:ext cx="400000" cy="40000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58030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88"/>
                </a:solidFill>
                <a:latin typeface="Microsoft YaHei"/>
              </a:rPr>
              <a:t>分析与改进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25190" y="1750000"/>
            <a:ext cx="1800000" cy="360000"/>
          </a:xfrm>
          <a:prstGeom prst="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责任：管理员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25190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动作：PM完成率/点检异常率→高异常设备→升级PM频度或进8D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25190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输出：月度PM分析 / 频度调整记录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3800000"/>
            <a:ext cx="5600000" cy="1750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38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Microsoft YaHei"/>
              </a:rPr>
              <a:t>🔴 漏做 / 逾期 分级处置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4220000"/>
            <a:ext cx="54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★ 逾期 &lt; 1天: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责任人口头提醒，当日完成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★ 逾期 1-3 天: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工程师主管书面警告 + 补做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★ 逾期 &gt; 3 天: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管理员介入，绩效扣分 + 设备风险评估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★ 漏做 ≥ 3 次/季度: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责任人年度绩效评级下调 1 档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★ 造假记录: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一经查实 → 直接重大违规处理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00000" y="3800000"/>
            <a:ext cx="5550000" cy="175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50000" y="38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🔗 点检异常 → 联动处置链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50000" y="4220000"/>
            <a:ext cx="54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① 发现异常项: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操作员点检时勾选异常 + 备注描述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② 自动建议派工: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系统检测异常→提示工程师「是否创建REPAIR工单」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③ 严重异常 → 设备切 DOWN: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关键项异常(安全类)→强制先切DOWN→再派工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④ 追溯漏检: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设备DOWN后→自动查该设备近30天点检执行率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⑤ 改进模板: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异常高发项→QA更新模板(增项/加严上下限)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700000"/>
            <a:ext cx="5600000" cy="900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" y="57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📊 KPI / 考核指标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6090000"/>
            <a:ext cx="54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PM按期完成率 ≥95%（季度滚动）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点检执行率（按人/按设备）≥98%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点检异常发现率 / 异常→工单转化率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抽检合格率（QA/管理员抽检）≥90%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00000" y="5700000"/>
            <a:ext cx="5550000" cy="9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50000" y="57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Microsoft YaHei"/>
              </a:rPr>
              <a:t>⚠ 异常处理 / 治理规则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50000" y="6090000"/>
            <a:ext cx="54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计划到期未生成 → 管理员系统健康告警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异常项未跟进处置 → QA月度品管会议议题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模板标准值≥半年未更新 → 复审提醒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DOWN机追溯发现漏检 → 追加责任人处分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【管理 4】文控合规管理流程（三级审批 + 复审 + 分发 + 水印 + 修正）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Document Compliance Management (3-Level Approval · Review · Distribute)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0000"/>
            <a:ext cx="1546166" cy="1400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250000"/>
            <a:ext cx="400000" cy="40000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200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  <a:latin typeface="Microsoft YaHei"/>
              </a:rPr>
              <a:t>编制与提交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50000"/>
            <a:ext cx="1800000" cy="3600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责任：工艺员/工程师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动作：编号规则预登记→文件上传→填分类/复审周期→二次密码提交审核→SHA256指纹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输出：草稿→审核中 / 编制签名 / 指纹记录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003366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03366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03366" y="1050000"/>
            <a:ext cx="1546166" cy="1400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40526" y="1250000"/>
            <a:ext cx="400000" cy="40000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3366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9C12"/>
                </a:solidFill>
                <a:latin typeface="Microsoft YaHei"/>
              </a:rPr>
              <a:t>审核（合规性）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40526" y="1750000"/>
            <a:ext cx="1800000" cy="3600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责任：QA审核员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0526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动作：合规性/完整性/格式→通过或驳回(必填原因)→二次密码→指纹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0526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输出：审核签名 / 驳回原因台账 / 同文档不可重审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949532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9532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9532" y="1050000"/>
            <a:ext cx="1546166" cy="1400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86692" y="1250000"/>
            <a:ext cx="400000" cy="4000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9532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  <a:latin typeface="Microsoft YaHei"/>
              </a:rPr>
              <a:t>批准（生效）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6692" y="1750000"/>
            <a:ext cx="1800000" cy="3600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责任：QA主管/管理员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6692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动作：二次密码批准→状态生效→生效日期+next_review_date→同组旧版自动作废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6692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输出：批准签名 / 生效日期 / 作废旧版台账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895698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5698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95698" y="1050000"/>
            <a:ext cx="1546166" cy="1400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32858" y="1250000"/>
            <a:ext cx="400000" cy="40000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5698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44AD"/>
                </a:solidFill>
                <a:latin typeface="Microsoft YaHei"/>
              </a:rPr>
              <a:t>受控分发收回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32858" y="1750000"/>
            <a:ext cx="1800000" cy="3600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责任：文控/管理员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2858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动作：按USER/DEPT分发→份数登记→下载PDF自动盖受控章(编号/状态/下载人/日期)→收回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2858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输出：分发台账 / 收回台账 / 水印PDF下载日志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841864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41864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41864" y="1050000"/>
            <a:ext cx="1546166" cy="140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379024" y="1250000"/>
            <a:ext cx="400000" cy="400000"/>
          </a:xfrm>
          <a:prstGeom prst="ellipse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11864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3D91"/>
                </a:solidFill>
                <a:latin typeface="Microsoft YaHei"/>
              </a:rPr>
              <a:t>复审与修订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79024" y="1750000"/>
            <a:ext cx="1800000" cy="360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责任：QA/工艺员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9024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动作：30天内到期黄Badge→已过期红Badge→复审通过或作废→修订字段before/after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9024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输出：复审记录 / 修订记录对比表 / 过期Badge清单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9788030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88030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88030" y="1050000"/>
            <a:ext cx="1546166" cy="1400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25190" y="1250000"/>
            <a:ext cx="400000" cy="40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58030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74C3C"/>
                </a:solidFill>
                <a:latin typeface="Microsoft YaHei"/>
              </a:rPr>
              <a:t>作废与归档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25190" y="1750000"/>
            <a:ext cx="1800000" cy="3600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责任：管理员/QA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25190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动作：批准作废→状态作废(终态不可逆)→关联电子表单同步标记→PDF归档保留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25190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输出：作废审批 / 终态归档 / 关联表单锁定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3800000"/>
            <a:ext cx="5600000" cy="1750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38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🔏 三级电子签名 — 合规留痕要点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4220000"/>
            <a:ext cx="54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每级必须二次密码校验: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防代签；密码校验失败不可签署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签署意见可选+留痕: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系统记录空意见或具体意见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SHA256指纹自动计算: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对(文档ID+版本+签署人+时间+密码哈希)算指纹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状态机白名单单向流转: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非白名单跳转直接被后端拒绝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同文档不可重复审核/批准: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已签角色不能再签，防绕过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驳回必须填原因: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原因写进修订记录并通知编制人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00000" y="3800000"/>
            <a:ext cx="5550000" cy="175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50000" y="38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9688"/>
                </a:solidFill>
                <a:latin typeface="Microsoft YaHei"/>
              </a:rPr>
              <a:t>🖨 受控章水印 + 复审告警矩阵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50000" y="4220000"/>
            <a:ext cx="54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PDF 必盖 4 要素: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文档编号 / 状态 / 下载人 / 下载日期时间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非PDF不加水印但留痕: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下载日志入库：谁/何时/哪个文件/版本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复审黄标: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next_review_date 在 30 天内 → 黄 Badge + 看板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复审红标: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next_review_date 已过期 → 红 Badge + 看板置顶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作废文件: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PDF下载额外加盖「作废」红章；操作员列表默认隐藏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分发收回对账: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月度文控会议：分发数 vs 收回数 vs 在岗人数核对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700000"/>
            <a:ext cx="5600000" cy="900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" y="57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📊 KPI / 考核指标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6090000"/>
            <a:ext cx="54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文控在审/已生效/已作废文档数量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复审到期率（当月到期 / 已过期数）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平均审批时长（编制→批准总天数）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驳回率（按文档类型 / 按编制人）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00000" y="5700000"/>
            <a:ext cx="5550000" cy="9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50000" y="57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Microsoft YaHei"/>
              </a:rPr>
              <a:t>⚠ 异常处理 / 治理规则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50000" y="6090000"/>
            <a:ext cx="54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红标过期文档 ≥ 3天未处理 → QA月度议题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无指纹签署 → 审计日志异常 → 安全追溯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审批跳过QA直接批准 → 管理员权限核查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作废文件恢复（非法操作）→ 审计标红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【管理 5】电子表单治理流程（模板定义 → 审核锁 → 附加修正 → 导出）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E-Form Governance (Template · Lock · Amendment · Export)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0000"/>
            <a:ext cx="1546166" cy="140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250000"/>
            <a:ext cx="400000" cy="400000"/>
          </a:xfrm>
          <a:prstGeom prst="ellipse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200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3D91"/>
                </a:solidFill>
                <a:latin typeface="Microsoft YaHei"/>
              </a:rPr>
              <a:t>模板立项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50000"/>
            <a:ext cx="1800000" cy="360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责任：工艺/QA/管理员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动作：业务部门提交需求→分析适用机台+字段→归类(作业记录类/通用类)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输出：模板需求单 / 字段清单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003366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03366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03366" y="1050000"/>
            <a:ext cx="1546166" cy="1400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40526" y="1250000"/>
            <a:ext cx="400000" cy="40000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3366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  <a:latin typeface="Microsoft YaHei"/>
              </a:rPr>
              <a:t>模板配置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40526" y="1750000"/>
            <a:ext cx="1800000" cy="3600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责任：管理员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0526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动作：9种字段类型(Key+显示名+必填/选项/单位/上下限/排序)→上传参考空白模板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0526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输出：模板配置 / 参考文件 / Key命名规范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949532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9532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9532" y="1050000"/>
            <a:ext cx="1546166" cy="1400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86692" y="1250000"/>
            <a:ext cx="400000" cy="40000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9532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9C12"/>
                </a:solidFill>
                <a:latin typeface="Microsoft YaHei"/>
              </a:rPr>
              <a:t>启用审批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6692" y="1750000"/>
            <a:ext cx="1800000" cy="3600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责任：QA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6692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动作：QA审核模板合规→字段标准一致→通过启用；不合规→退回修改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6692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输出：启用签名 / 变更记录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895698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5698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95698" y="1050000"/>
            <a:ext cx="1546166" cy="1400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32858" y="1250000"/>
            <a:ext cx="400000" cy="40000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5698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44AD"/>
                </a:solidFill>
                <a:latin typeface="Microsoft YaHei"/>
              </a:rPr>
              <a:t>填写提交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32858" y="1750000"/>
            <a:ext cx="1800000" cy="3600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责任：操作员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2858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动作：选模板+机台→批次/班次/生产日期→逐字段→保存草稿或提交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2858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输出：电子表单记录 / 结构化JSON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841864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41864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41864" y="1050000"/>
            <a:ext cx="1546166" cy="1400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379024" y="1250000"/>
            <a:ext cx="400000" cy="4000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11864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  <a:latin typeface="Microsoft YaHei"/>
              </a:rPr>
              <a:t>审核锁定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79024" y="1750000"/>
            <a:ext cx="1800000" cy="3600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责任：QA/管理员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9024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动作：文控审核通过→状态已审核→禁止原地修改；不通过→退回修改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9024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输出：审核签名 / 锁定状态 / 审核清单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9788030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88030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88030" y="1050000"/>
            <a:ext cx="1546166" cy="140000"/>
          </a:xfrm>
          <a:prstGeom prst="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25190" y="1250000"/>
            <a:ext cx="400000" cy="40000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58030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88"/>
                </a:solidFill>
                <a:latin typeface="Microsoft YaHei"/>
              </a:rPr>
              <a:t>附加修正 / 导出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25190" y="1750000"/>
            <a:ext cx="1800000" cy="360000"/>
          </a:xfrm>
          <a:prstGeom prst="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责任：QA/管理员/全员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25190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动作：已审核→修正审批(PENDING→QA审批APPROVED)；按模板导出JSON/CSV做分析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25190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输出：修正台账 / JSON·CSV导出日志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3800000"/>
            <a:ext cx="5600000" cy="1750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38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E44AD"/>
                </a:solidFill>
                <a:latin typeface="Microsoft YaHei"/>
              </a:rPr>
              <a:t>🧩 附加修正审批链（已审核表单不可原地修改）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4220000"/>
            <a:ext cx="54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① 提出修正: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原填写人/工艺员 → 选字段+填原值+修正值+修正原因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② 二次密码校验: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提出人必须再次输入登录密码，防越权代提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③ 状态 PENDING: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修正项暂不生效；表单显示「修正待审批」Badge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④ QA 审批: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QA/管理员 → 同意(APPROVED)或拒绝(REJECTED)→必须填意见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⑤ 生效或退回: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APPROVED→修正值写入原值字段旁+保留原值；REJECTED→不生效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⑥ 追溯: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修正前后值+原因+提出人+审批人+时间全留痕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00000" y="3800000"/>
            <a:ext cx="5550000" cy="175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50000" y="38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📐 模板治理规范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50000" y="4220000"/>
            <a:ext cx="54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Key命名规范: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snake_case小写英文，同一模板内唯一；含中文→后端拒绝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字段必填率: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关键参数(温度/压力/批次)必须必填；避免全可选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上下限设置: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数值类必须配合理上下限，超出时提交警告并记异常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参考模板对照: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作业记录类必须上传空白PDF/Excel参考件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版本兼容性: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模板启用后修改字段→旧表单仍以旧版本结构导出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停用与归档: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模板停用→不可新建；历史表单保留可读可导出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700000"/>
            <a:ext cx="5600000" cy="900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" y="57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📊 KPI / 考核指标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6090000"/>
            <a:ext cx="54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按模板统计：填写量 / 异常率 / 超期未提交数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已审核表单占比（目标 ≥85%）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附加修正通过率 / 平均修正字段数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结构化导出频次（工艺分析/质量分析）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00000" y="5700000"/>
            <a:ext cx="5550000" cy="9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50000" y="57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Microsoft YaHei"/>
              </a:rPr>
              <a:t>⚠ 异常处理 / 治理规则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50000" y="6090000"/>
            <a:ext cx="54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关键数值超上下限 → 看板异常高亮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模板字段Key非法 → 管理员启用前必须整改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无审批直接改已审核表单 → 审计异常标红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连续3个月未使用模板 → QA复核是否停用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【管理 6】品质改进管理流程（8D + FMEA RPN + 安全检查 + 整改闭环）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Quality Improvement Management (8D · FMEA RPN · Safety · Closure)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0000"/>
            <a:ext cx="1546166" cy="1400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250000"/>
            <a:ext cx="400000" cy="40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200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74C3C"/>
                </a:solidFill>
                <a:latin typeface="Microsoft YaHei"/>
              </a:rPr>
              <a:t>触发与立项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50000"/>
            <a:ext cx="1800000" cy="3600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责任：QA/管理员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动作：重大停机/同根因复发≥3/客户投诉→启动8D→D1组建团队(D1)+指定团长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输出：8D立项 / 团队名单 / 关联工单/设备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003366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03366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03366" y="1050000"/>
            <a:ext cx="1546166" cy="1400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40526" y="1250000"/>
            <a:ext cx="400000" cy="40000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3366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9C12"/>
                </a:solidFill>
                <a:latin typeface="Microsoft YaHei"/>
              </a:rPr>
              <a:t>问题与遏制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40526" y="1750000"/>
            <a:ext cx="1800000" cy="3600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责任：8D团队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0526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动作：D0问题描述+D2精确定义(5W2H)→D3临时遏制措施(短期围堵)→遏制责任人+期限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0526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输出：D0-D3记录 / 遏制追踪表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949532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9532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9532" y="1050000"/>
            <a:ext cx="1546166" cy="1400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86692" y="1250000"/>
            <a:ext cx="400000" cy="40000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9532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  <a:latin typeface="Microsoft YaHei"/>
              </a:rPr>
              <a:t>根因与措施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6692" y="1750000"/>
            <a:ext cx="1800000" cy="3600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责任：8D团队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6692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动作：D4根因分析(5Why/鱼骨图/DOE)→D5永久纠正措施→负责人+计划完成日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6692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输出：D4-D5记录 / 根因分类统计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895698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5698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95698" y="1050000"/>
            <a:ext cx="1546166" cy="1400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32858" y="1250000"/>
            <a:ext cx="400000" cy="40000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5698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44AD"/>
                </a:solidFill>
                <a:latin typeface="Microsoft YaHei"/>
              </a:rPr>
              <a:t>验证与预防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32858" y="1750000"/>
            <a:ext cx="1800000" cy="3600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责任：8D团队/QA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2858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动作：D6实施+效果验证(数据对比)→D7预防再发(标准化/更新SOP/FMEA)→横向展开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2858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输出：D6-D7记录 / 验证数据 / 预防展开清单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841864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41864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41864" y="1050000"/>
            <a:ext cx="1546166" cy="140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379024" y="1250000"/>
            <a:ext cx="400000" cy="400000"/>
          </a:xfrm>
          <a:prstGeom prst="ellipse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11864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3D91"/>
                </a:solidFill>
                <a:latin typeface="Microsoft YaHei"/>
              </a:rPr>
              <a:t>FMEA治理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79024" y="1750000"/>
            <a:ext cx="1800000" cy="360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责任：QA/工程师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9024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动作：S/O/D打分→RPN=S×O×D→RPN&gt;100高亮→必须改进行动→季度重评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9024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输出：FMEA台账 / RPN分布 / 改进计划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9788030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88030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88030" y="1050000"/>
            <a:ext cx="1546166" cy="1400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25190" y="1250000"/>
            <a:ext cx="400000" cy="4000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58030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  <a:latin typeface="Microsoft YaHei"/>
              </a:rPr>
              <a:t>安全/环境/证书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25190" y="1750000"/>
            <a:ext cx="1800000" cy="3600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责任：QA/安全员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25190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动作：4类安全检查+环境参数+证书到期→整改→复查→关闭；过期红Badge→看板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25190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输出：检查记录 / 整改台账 / 证书到期清单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3800000"/>
            <a:ext cx="5600000" cy="1750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38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⏳ 8D 各阶段时限标准（目标值·可调）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4220000"/>
            <a:ext cx="54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D0-D3 (遏制):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立项后 24 小时内完成围堵措施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D4 (根因):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立项后 3 工作日内输出根因初稿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D5 (永久措施):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D4确认后 5 工作日内批准措施方案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D6 (验证):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措施实施后 10 工作日内给出验证数据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D7 (预防):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验证通过后 5 工作日内完成SOP/FMEA更新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D8 (总结关闭):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QA复核通过后 2 工作日内表彰+关闭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00000" y="3800000"/>
            <a:ext cx="5550000" cy="175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50000" y="38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Microsoft YaHei"/>
              </a:rPr>
              <a:t>🎯 FMEA RPN 分级处置 + 安全 4 类检查矩阵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50000" y="4220000"/>
            <a:ext cx="54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RPN &lt; 50: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低风险 → 常规记录，年度复核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50 ≤ RPN &lt; 100: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中风险 → 半年内改进计划 + 责任人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RPN ≥ 100: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高风险 → 30天内改进行动 + QA跟踪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4类检查(装置/特种设备/环保/消防):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按频率(next_date)自动提醒；黄/红Badge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特种设备证书到期: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30天黄标；过期红标+看板置顶+整改单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环境超标(VOC/温湿度/ESD):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超阈值→自动记异常+生成整改追踪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700000"/>
            <a:ext cx="5600000" cy="900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" y="57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📊 KPI / 考核指标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6090000"/>
            <a:ext cx="54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8D按期关闭率（按上述时限）≥85%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RPN≥100项目数 / 平均RPN（季度下降）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安全检查按期率 + 证书过期数（目标 0）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整改完成率 / 平均整改天数（趋势）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00000" y="5700000"/>
            <a:ext cx="5550000" cy="9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50000" y="57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Microsoft YaHei"/>
              </a:rPr>
              <a:t>⚠ 异常处理 / 治理规则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50000" y="6090000"/>
            <a:ext cx="54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8D超期未推进 → 团长升级主管+看板红标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RPN≥100无改进 → QA月度品质会议必提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证书过期仍在使用 → 立即暂停+审计追责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复发≥3未开8D → 管理员强制发起+团长问责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【管理 7】知识沉淀与复发治理流程（双归档 + 审核 + 复发 + 根因根治）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Knowledge Management (Archive · Audit · Recurrence · Root Cause Fix)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0000"/>
            <a:ext cx="1546166" cy="1400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250000"/>
            <a:ext cx="400000" cy="40000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200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9C12"/>
                </a:solidFill>
                <a:latin typeface="Microsoft YaHei"/>
              </a:rPr>
              <a:t>沉淀触发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50000"/>
            <a:ext cx="1800000" cy="3600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责任：QA/工程师/管理员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动作：工单CLOSED(根因完整) / 8D CLOSED / 手动创建 → 触发归档动作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输出：触发来源记录 / 关联工单/8D ID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003366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03366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03366" y="1050000"/>
            <a:ext cx="1546166" cy="1400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40526" y="1250000"/>
            <a:ext cx="400000" cy="40000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3366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  <a:latin typeface="Microsoft YaHei"/>
              </a:rPr>
              <a:t>双路径归档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40526" y="1750000"/>
            <a:ext cx="1800000" cy="3600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责任：QA/工程师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0526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动作：工单→知识(描述→现象/根因→根因)；8D→知识(D0+D2→现象/D4→根因/D5→处置/D7→预防)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0526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输出：草稿知识条目 / 自动映射字段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949532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9532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9532" y="1050000"/>
            <a:ext cx="1546166" cy="1400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86692" y="1250000"/>
            <a:ext cx="400000" cy="4000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9532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  <a:latin typeface="Microsoft YaHei"/>
              </a:rPr>
              <a:t>知识审核发布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6692" y="1750000"/>
            <a:ext cx="1800000" cy="3600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责任：QA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6692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动作：草稿→QA审核(分类/标签是否准确/根因是否完整)→发布或驳回；默认打标签8D/工单编号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6692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输出：已发布知识 / 审核签名 / 驳回原因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895698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5698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95698" y="1050000"/>
            <a:ext cx="1546166" cy="140000"/>
          </a:xfrm>
          <a:prstGeom prst="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32858" y="1250000"/>
            <a:ext cx="400000" cy="40000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5698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9688"/>
                </a:solidFill>
                <a:latin typeface="Microsoft YaHei"/>
              </a:rPr>
              <a:t>检索与推荐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32858" y="1750000"/>
            <a:ext cx="1800000" cy="360000"/>
          </a:xfrm>
          <a:prstGeom prst="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责任：全员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2858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动作：关键词全文(标题/现象/根因/处置)；优先同设备+同分类→退化；按浏览/复发排序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2858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输出：浏览记录 / views统计 / 推荐命中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841864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41864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41864" y="1050000"/>
            <a:ext cx="1546166" cy="1400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379024" y="1250000"/>
            <a:ext cx="400000" cy="40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11864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74C3C"/>
                </a:solidFill>
                <a:latin typeface="Microsoft YaHei"/>
              </a:rPr>
              <a:t>复发标记计数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79024" y="1750000"/>
            <a:ext cx="1800000" cy="3600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责任：工程师/QA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9024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动作：确认同根因再次出现→二次确认→recurrence_count+1→自动关联本次工单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9024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输出：复发台账 / 复发次数排名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9788030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88030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88030" y="1050000"/>
            <a:ext cx="1546166" cy="1400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25190" y="1250000"/>
            <a:ext cx="400000" cy="40000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58030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44AD"/>
                </a:solidFill>
                <a:latin typeface="Microsoft YaHei"/>
              </a:rPr>
              <a:t>根因根治项目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25190" y="1750000"/>
            <a:ext cx="1800000" cy="3600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责任：管理员/QA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25190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动作：复发≥3的条目→强制立项专项改善→更新预防措施→更新知识条目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25190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输出：专项立项 / 预防措施修订 / 知识更新记录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3800000"/>
            <a:ext cx="5600000" cy="1750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38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📥 双路径自动字段映射表（不可篡改留痕）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4220000"/>
            <a:ext cx="1600000" cy="200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5800" y="4250000"/>
            <a:ext cx="15085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9688"/>
                </a:solidFill>
                <a:latin typeface="Microsoft YaHei"/>
              </a:rPr>
              <a:t>知识字段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240080" y="4220000"/>
            <a:ext cx="1950000" cy="200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285800" y="4250000"/>
            <a:ext cx="18585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9688"/>
                </a:solidFill>
                <a:latin typeface="Microsoft YaHei"/>
              </a:rPr>
              <a:t>← 工单归档 (source_work_order_id)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90080" y="4220000"/>
            <a:ext cx="1950000" cy="200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35800" y="4250000"/>
            <a:ext cx="18585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09688"/>
                </a:solidFill>
                <a:latin typeface="Microsoft YaHei"/>
              </a:rPr>
              <a:t>← 8D归档 (source_d8_report_id)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" y="4440000"/>
            <a:ext cx="1600000" cy="2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5800" y="4470000"/>
            <a:ext cx="15085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symptom 现象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40080" y="4440000"/>
            <a:ext cx="1950000" cy="2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285800" y="4470000"/>
            <a:ext cx="18585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description + title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90080" y="4440000"/>
            <a:ext cx="1950000" cy="2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35800" y="4470000"/>
            <a:ext cx="18585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D0(问题) + D2(问题定义)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0080" y="4660000"/>
            <a:ext cx="1600000" cy="2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5800" y="4690000"/>
            <a:ext cx="15085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root_cause 根因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240080" y="4660000"/>
            <a:ext cx="1950000" cy="2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285800" y="4690000"/>
            <a:ext cx="18585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root_cause 字段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90080" y="4660000"/>
            <a:ext cx="1950000" cy="2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235800" y="4690000"/>
            <a:ext cx="18585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D4(根本原因)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0080" y="4880000"/>
            <a:ext cx="1600000" cy="2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5800" y="4910000"/>
            <a:ext cx="15085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solution 处置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240080" y="4880000"/>
            <a:ext cx="1950000" cy="2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285800" y="4910000"/>
            <a:ext cx="18585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solution / 处置措施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90080" y="4880000"/>
            <a:ext cx="1950000" cy="2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35800" y="4910000"/>
            <a:ext cx="18585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D5(永久纠正措施)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0080" y="5100000"/>
            <a:ext cx="1600000" cy="2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85800" y="5130000"/>
            <a:ext cx="15085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prevention 预防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240080" y="5100000"/>
            <a:ext cx="1950000" cy="2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285800" y="5130000"/>
            <a:ext cx="18585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prevention / 预防措施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90080" y="5100000"/>
            <a:ext cx="1950000" cy="2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235800" y="5130000"/>
            <a:ext cx="18585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D7(预防再发)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40080" y="5320000"/>
            <a:ext cx="1600000" cy="2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85800" y="5350000"/>
            <a:ext cx="15085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fault_category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240080" y="5320000"/>
            <a:ext cx="1950000" cy="2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285800" y="5350000"/>
            <a:ext cx="18585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fault_category 字段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190080" y="5320000"/>
            <a:ext cx="1950000" cy="2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235800" y="5350000"/>
            <a:ext cx="185856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C3E50"/>
                </a:solidFill>
                <a:latin typeface="Microsoft YaHei"/>
              </a:rPr>
              <a:t>按设备/关键词自动推荐，QA可改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00000" y="3800000"/>
            <a:ext cx="5550000" cy="175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50000" y="38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Microsoft YaHei"/>
              </a:rPr>
              <a:t>🔁 复发治理分级处置（recurrence_count 驱动）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50000" y="4220000"/>
            <a:ext cx="54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count = 0 (首次):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常规发布，工程师维修时可见相似案例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count = 1 (再发1次):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QA复核根因是否完整 / 预防是否到位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count = 2 (再发2次):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通知设备主管 → 预防措施升级审核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count ≥ 3 (反复发):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强制启动8D或专项改善 → 管理员月度议题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复发TOP榜: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看板按复发次数倒序 → 一眼看清需重点根治的根因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防误标机制: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标记复发必须二次确认 + 填写关联工单ID佐证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57200" y="5700000"/>
            <a:ext cx="5600000" cy="900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40080" y="57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📊 KPI / 考核指标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0080" y="6090000"/>
            <a:ext cx="54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知识库新增条目数（月度增长）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工单/8D → 知识 转化率（目标 ≥70%）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复发TOP10根因清单 / 复发总次数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相似案例命中率（维修前浏览率）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200000" y="5700000"/>
            <a:ext cx="5550000" cy="9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50000" y="57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Microsoft YaHei"/>
              </a:rPr>
              <a:t>⚠ 异常处理 / 治理规则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50000" y="6090000"/>
            <a:ext cx="54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有根因却未归档 → QA月度品质会议追责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知识发布后30天无人浏览 → 复审是否冗余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复发≥3未立项 → 管理员直接发起专项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无关联工单/8D ID的复发标记 → 驳回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00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YaHei"/>
              </a:rPr>
              <a:t>【管理 8】备件与库存管理流程（申购 · 入库 · 领用 · 低库存告警 · 盘点 · 报废）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900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EC5E8"/>
                </a:solidFill>
                <a:latin typeface="Microsoft YaHei"/>
              </a:rPr>
              <a:t>Spare Parts Inventory Management (Procure · Stock · Issue · Alert · Audit · Scrap)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0000"/>
            <a:ext cx="1546166" cy="140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4360" y="1250000"/>
            <a:ext cx="400000" cy="400000"/>
          </a:xfrm>
          <a:prstGeom prst="ellipse">
            <a:avLst/>
          </a:prstGeom>
          <a:solidFill>
            <a:srgbClr val="0B3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200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3D91"/>
                </a:solidFill>
                <a:latin typeface="Microsoft YaHei"/>
              </a:rPr>
              <a:t>申购与审批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750000"/>
            <a:ext cx="1800000" cy="360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责任：工程师/管理员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动作：维修/PM预需求→填写申购单(品号/数量/预算/交期)→管理员或主管审批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输出：申购单 / 审批记录 / 采购预通知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003366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03366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03366" y="1050000"/>
            <a:ext cx="1546166" cy="1400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540526" y="1250000"/>
            <a:ext cx="400000" cy="40000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3366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  <a:latin typeface="Microsoft YaHei"/>
              </a:rPr>
              <a:t>到货入库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40526" y="1750000"/>
            <a:ext cx="1800000" cy="36000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责任：仓库/管理员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0526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动作：到货核对→三单匹配(申购单/送货单/发票)→批次/有效期/供应商录入→入库上架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0526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输出：入库台账 / 批次标签 / 库存(数量+位置)更新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949532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9532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9532" y="1050000"/>
            <a:ext cx="1546166" cy="1400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86692" y="1250000"/>
            <a:ext cx="400000" cy="40000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9532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39C12"/>
                </a:solidFill>
                <a:latin typeface="Microsoft YaHei"/>
              </a:rPr>
              <a:t>领用与出库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6692" y="1750000"/>
            <a:ext cx="1800000" cy="360000"/>
          </a:xfrm>
          <a:prstGeom prst="rect">
            <a:avLst/>
          </a:prstGeom>
          <a:solidFill>
            <a:srgbClr val="F39C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责任：工程师/操作员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6692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动作：工单详情→领用备件(选品号/数量)→自动扣减库存；无工单领用→管理员双签批准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6692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输出：出库记录 / 关联工单ID / LCC备件类成本自动累加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5895698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5698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95698" y="1050000"/>
            <a:ext cx="1546166" cy="1400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32858" y="1250000"/>
            <a:ext cx="400000" cy="40000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5698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74C3C"/>
                </a:solidFill>
                <a:latin typeface="Microsoft YaHei"/>
              </a:rPr>
              <a:t>低库存与补货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32858" y="1750000"/>
            <a:ext cx="1800000" cy="3600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责任：管理员/仓库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2858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动作：低于安全库存→看板标红Badge→建议补货量=历史月均×采购周期×安全系数→触发申购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2858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输出：低库存清单 / 补货建议 / 采购周期看板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7841864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41864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41864" y="1050000"/>
            <a:ext cx="1546166" cy="1400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379024" y="1250000"/>
            <a:ext cx="400000" cy="40000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11864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44AD"/>
                </a:solidFill>
                <a:latin typeface="Microsoft YaHei"/>
              </a:rPr>
              <a:t>易损件绑定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79024" y="1750000"/>
            <a:ext cx="1800000" cy="36000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责任：工程师/管理员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9024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动作：每台设备建立专属易损件清单→关联品号/平均寿命→DOWN时自动弹窗提示库存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9024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输出：设备易损件绑定表 / DOWN机库存提示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9788030" y="2250000"/>
            <a:ext cx="300000" cy="20000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188030" y="1050000"/>
            <a:ext cx="1546166" cy="26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88030" y="1050000"/>
            <a:ext cx="1546166" cy="1400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25190" y="1250000"/>
            <a:ext cx="400000" cy="400000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58030" y="1260000"/>
            <a:ext cx="946166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  <a:latin typeface="Microsoft YaHei"/>
              </a:rPr>
              <a:t>盘点与报废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25190" y="1750000"/>
            <a:ext cx="1800000" cy="36000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责任：管理员/财务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25190" y="2200000"/>
            <a:ext cx="1271846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C3E50"/>
                </a:solidFill>
                <a:latin typeface="Microsoft YaHei"/>
              </a:rPr>
              <a:t>动作：季度实物盘点→差异审批→报废(过期/损坏/淘汰)→调账→报废值进LCC报废类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25190" y="2950000"/>
            <a:ext cx="1271846" cy="6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9688"/>
                </a:solidFill>
                <a:latin typeface="Microsoft YaHei"/>
              </a:rPr>
              <a:t>输出：盘点差异台账 / 报废审批 / LCC成本更新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3800000"/>
            <a:ext cx="5600000" cy="1750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38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Microsoft YaHei"/>
              </a:rPr>
              <a:t>🚫 出库合规红线（防止备件流失）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4220000"/>
            <a:ext cx="54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工单绑定（主渠道）: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95%以上出库必须从工单详情发起，自动记录关联工单ID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无工单领用（例外）: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必须填写用途说明+管理员二次密码双签+异常台账标记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数量异常: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单次领用超该品号月均2倍 → 自动弹窗要求主管审批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追溯: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反向追溯：备件批次号→入库→出库→哪台设备哪张工单→哪个责任人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防呆: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系统禁止零库存出库；禁止同一张工单领用同一品号3次以上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月结: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月度出库汇总→按设备/按工程师排名→异常消耗Top10分析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00000" y="3800000"/>
            <a:ext cx="5550000" cy="175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50000" y="38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📐 安全库存模型 + 易损件寿命联动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50000" y="4220000"/>
            <a:ext cx="54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安全库存公式: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SS = 月均消耗量 × (采购周期月 + 安全月)，默认安全系数 1.3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采购周期分级: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本地供应商7天 / 外地30天 / 进口90天，周期越久SS越高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ABC分类管理: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A类(价值高)严格按SS；C类(螺丝/标签)可宽松，避免缺件误修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寿命预警1：PM: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易损件绑定设备后，累计PM次数≥寿命→自动建议下次更换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寿命预警2：运行时: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备件已用次数/寿命 &gt; 80% → 看板黄标；&gt;100% → 红标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009688"/>
                </a:solidFill>
                <a:latin typeface="Microsoft YaHei"/>
              </a:rPr>
              <a:t>▸ DOWN机智能提示: </a:t>
            </a:r>
            <a:r>
              <a:rPr sz="1000" b="0">
                <a:solidFill>
                  <a:srgbClr val="2C3E50"/>
                </a:solidFill>
                <a:latin typeface="Microsoft YaHei"/>
              </a:rPr>
              <a:t>设备切DOWN→系统自动弹出：此设备易损件X当前库存=Y 是否领用？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700000"/>
            <a:ext cx="5600000" cy="900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" y="57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B3D91"/>
                </a:solidFill>
                <a:latin typeface="Microsoft YaHei"/>
              </a:rPr>
              <a:t>📊 KPI / 考核指标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6090000"/>
            <a:ext cx="54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备件库存准确率（盘点差异率，目标 ≤2%）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低库存告警响应率 / 平均补货周期（天）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工单绑定出库率（目标 ≥95%）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易损件DOWN机命中率（目标 ≥80%：DOWN时弹对的件）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00000" y="5700000"/>
            <a:ext cx="5550000" cy="900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50000" y="5791440"/>
            <a:ext cx="5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74C3C"/>
                </a:solidFill>
                <a:latin typeface="Microsoft YaHei"/>
              </a:rPr>
              <a:t>⚠ 异常处理 / 治理规则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50000" y="6090000"/>
            <a:ext cx="54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无工单无双签出库 → 审计异常 + 责任人追责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低库存超14天未补货 → 管理员月度设备会议必提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盘点差异率≥5% → 复盘流程，管理员书面解释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2C3E50"/>
                </a:solidFill>
                <a:latin typeface="Microsoft YaHei"/>
              </a:rPr>
              <a:t>• 备件私自借出不入系统 → 一经查实按重大违规处理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