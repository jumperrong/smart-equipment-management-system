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SEMS 半导体设备管理系统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FC3F7"/>
                </a:solidFill>
              </a:defRPr>
            </a:pPr>
            <a:r>
              <a:t>Semiconductor Equipment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0CAF9"/>
                </a:solidFill>
              </a:defRPr>
            </a:pPr>
            <a:r>
              <a:t>功能介绍  |  v1.2.0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200400"/>
            <a:ext cx="3047695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3D91"/>
                </a:solidFill>
              </a:defRPr>
            </a:pPr>
            <a:r>
              <a:t>功能总览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256032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3D91"/>
                </a:solidFill>
              </a:defRPr>
            </a:pPr>
            <a:r>
              <a:t>看板总览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060"/>
                </a:solidFill>
              </a:defRPr>
            </a:pPr>
            <a:r>
              <a:t>实时状态监控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6120" y="1280160"/>
            <a:ext cx="256032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4173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3D91"/>
                </a:solidFill>
              </a:defRPr>
            </a:pPr>
            <a:r>
              <a:t>设备台账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8745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060"/>
                </a:solidFill>
              </a:defRPr>
            </a:pPr>
            <a:r>
              <a:t>设备档案+状态切换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280160"/>
            <a:ext cx="256032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4173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3D91"/>
                </a:solidFill>
              </a:defRPr>
            </a:pPr>
            <a:r>
              <a:t>点检巡检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8745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060"/>
                </a:solidFill>
              </a:defRPr>
            </a:pPr>
            <a:r>
              <a:t>模板与记录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41080" y="1280160"/>
            <a:ext cx="256032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14173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3D91"/>
                </a:solidFill>
              </a:defRPr>
            </a:pPr>
            <a:r>
              <a:t>工单管理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18745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060"/>
                </a:solidFill>
              </a:defRPr>
            </a:pPr>
            <a:r>
              <a:t>持续时长+关键词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51760"/>
            <a:ext cx="256032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889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3D91"/>
                </a:solidFill>
              </a:defRPr>
            </a:pPr>
            <a:r>
              <a:t>PM维护计划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2461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060"/>
                </a:solidFill>
              </a:defRPr>
            </a:pPr>
            <a:r>
              <a:t>周期性保养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2651760"/>
            <a:ext cx="256032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27889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3D91"/>
                </a:solidFill>
              </a:defRPr>
            </a:pPr>
            <a:r>
              <a:t>备件管理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2461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060"/>
                </a:solidFill>
              </a:defRPr>
            </a:pPr>
            <a:r>
              <a:t>库存与流水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2651760"/>
            <a:ext cx="256032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27889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3D91"/>
                </a:solidFill>
              </a:defRPr>
            </a:pPr>
            <a:r>
              <a:t>工艺文件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2461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060"/>
                </a:solidFill>
              </a:defRPr>
            </a:pPr>
            <a:r>
              <a:t>版本+电子表单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41080" y="2651760"/>
            <a:ext cx="256032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23960" y="27889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3D91"/>
                </a:solidFill>
              </a:defRPr>
            </a:pPr>
            <a:r>
              <a:t>表单模板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2461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060"/>
                </a:solidFill>
              </a:defRPr>
            </a:pPr>
            <a:r>
              <a:t>结构化字段定义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023360"/>
            <a:ext cx="256032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1605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3D91"/>
                </a:solidFill>
              </a:defRPr>
            </a:pPr>
            <a:r>
              <a:t>文控系统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6177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060"/>
                </a:solidFill>
              </a:defRPr>
            </a:pPr>
            <a:r>
              <a:t>审批链+受控章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46120" y="4023360"/>
            <a:ext cx="256032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29000" y="41605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3D91"/>
                </a:solidFill>
              </a:defRPr>
            </a:pPr>
            <a:r>
              <a:t>OEE 分析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46177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060"/>
                </a:solidFill>
              </a:defRPr>
            </a:pPr>
            <a:r>
              <a:t>效率统计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4023360"/>
            <a:ext cx="256032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41605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3D91"/>
                </a:solidFill>
              </a:defRPr>
            </a:pPr>
            <a:r>
              <a:t>品管工具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46177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060"/>
                </a:solidFill>
              </a:defRPr>
            </a:pPr>
            <a:r>
              <a:t>8D / FMEA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41080" y="4023360"/>
            <a:ext cx="256032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23960" y="41605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3D91"/>
                </a:solidFill>
              </a:defRPr>
            </a:pPr>
            <a:r>
              <a:t>环境核查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60" y="46177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060"/>
                </a:solidFill>
              </a:defRPr>
            </a:pPr>
            <a:r>
              <a:t>参数监控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394960"/>
            <a:ext cx="256032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5321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3D91"/>
                </a:solidFill>
              </a:defRPr>
            </a:pPr>
            <a:r>
              <a:t>人员管理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9893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060"/>
                </a:solidFill>
              </a:defRPr>
            </a:pPr>
            <a:r>
              <a:t>资质与培训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46120" y="5394960"/>
            <a:ext cx="256032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29000" y="55321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3D91"/>
                </a:solidFill>
              </a:defRPr>
            </a:pPr>
            <a:r>
              <a:t>资产管理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59893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060"/>
                </a:solidFill>
              </a:defRPr>
            </a:pPr>
            <a:r>
              <a:t>盘点与调拨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0" y="5394960"/>
            <a:ext cx="256032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0" y="55321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3D91"/>
                </a:solidFill>
              </a:defRPr>
            </a:pPr>
            <a:r>
              <a:t>安全灾备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59893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060"/>
                </a:solidFill>
              </a:defRPr>
            </a:pPr>
            <a:r>
              <a:t>加固+3-2-1备份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41080" y="5394960"/>
            <a:ext cx="256032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23960" y="55321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3D91"/>
                </a:solidFill>
              </a:defRPr>
            </a:pPr>
            <a:r>
              <a:t>服务守护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23960" y="59893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060"/>
                </a:solidFill>
              </a:defRPr>
            </a:pPr>
            <a:r>
              <a:t>自启+崩溃重启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6766560"/>
            <a:ext cx="256032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69037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3D91"/>
                </a:solidFill>
              </a:defRPr>
            </a:pPr>
            <a:r>
              <a:t>系统配置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73609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060"/>
                </a:solidFill>
              </a:defRPr>
            </a:pPr>
            <a:r>
              <a:t>权限与设置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看板总览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0CAF9"/>
                </a:solidFill>
              </a:defRPr>
            </a:pPr>
            <a:r>
              <a:t>Dashboard Overview</a:t>
            </a:r>
          </a:p>
        </p:txBody>
      </p:sp>
      <p:pic>
        <p:nvPicPr>
          <p:cNvPr id="5" name="Picture 4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4613141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1097280"/>
            <a:ext cx="3657600" cy="5303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2801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3D91"/>
                </a:solidFill>
              </a:defRPr>
            </a:pPr>
            <a:r>
              <a:t>功能亮点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8288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设备实时状态一览：RUN / IDLE / DOWN / PM / ENGINEERING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状态变更轨迹可视化（from → to）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超时预警提醒，PM 进行中实时跟踪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按厂区、区域、状态多维度筛选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设备台账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0CAF9"/>
                </a:solidFill>
              </a:defRPr>
            </a:pPr>
            <a:r>
              <a:t>Equipment Registry</a:t>
            </a:r>
          </a:p>
        </p:txBody>
      </p:sp>
      <p:pic>
        <p:nvPicPr>
          <p:cNvPr id="5" name="Picture 4" descr="02_equip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4613141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1097280"/>
            <a:ext cx="3657600" cy="5303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2801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3D91"/>
                </a:solidFill>
              </a:defRPr>
            </a:pPr>
            <a:r>
              <a:t>功能亮点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8288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完整的设备档案管理（名称、编号、厂区、区域、供应商）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支持按关键字、厂区、区域、状态查询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右上角一键切换设备状态（DOWN 自动派工单）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设备详情、编辑、删除等操作便捷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点检巡检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0CAF9"/>
                </a:solidFill>
              </a:defRPr>
            </a:pPr>
            <a:r>
              <a:t>Inspection &amp; Patrol</a:t>
            </a:r>
          </a:p>
        </p:txBody>
      </p:sp>
      <p:pic>
        <p:nvPicPr>
          <p:cNvPr id="5" name="Picture 4" descr="03_insp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4613141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1097280"/>
            <a:ext cx="3657600" cy="5303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2801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3D91"/>
                </a:solidFill>
              </a:defRPr>
            </a:pPr>
            <a:r>
              <a:t>功能亮点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8288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点检模板管理：日检 / 周检 / 月检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每台设备关联独立检查项（4-8 项）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点检记录历史可追溯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一键发起点检操作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工单管理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0CAF9"/>
                </a:solidFill>
              </a:defRPr>
            </a:pPr>
            <a:r>
              <a:t>Work Order Management</a:t>
            </a:r>
          </a:p>
        </p:txBody>
      </p:sp>
      <p:pic>
        <p:nvPicPr>
          <p:cNvPr id="5" name="Picture 4" descr="04_work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4613141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1097280"/>
            <a:ext cx="3657600" cy="5303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2801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3D91"/>
                </a:solidFill>
              </a:defRPr>
            </a:pPr>
            <a:r>
              <a:t>功能亮点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8288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REPAIR 故障维修 + PM 预防性维护，两大工单类型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工单持续时长：列表 &amp; 详情可见（创建到关闭）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关键词检索：支持标题/描述/现象模糊搜索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设备 DOWN 状态切换自动创建 REPAIR 工单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PM 维护计划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0CAF9"/>
                </a:solidFill>
              </a:defRPr>
            </a:pPr>
            <a:r>
              <a:t>PM Maintenance Plan</a:t>
            </a:r>
          </a:p>
        </p:txBody>
      </p:sp>
      <p:pic>
        <p:nvPicPr>
          <p:cNvPr id="5" name="Picture 4" descr="06_pm_pl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4613141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1097280"/>
            <a:ext cx="3657600" cy="5303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2801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3D91"/>
                </a:solidFill>
              </a:defRPr>
            </a:pPr>
            <a:r>
              <a:t>功能亮点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8288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周期性 PM 计划：周 / 双周 / 月 / 季度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计划到期自动提醒（已到期 / 即将到期）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维护项目清单明确（如腔体清洁、校准、更换配件）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一键生成到期 PM 工单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备件管理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0CAF9"/>
                </a:solidFill>
              </a:defRPr>
            </a:pPr>
            <a:r>
              <a:t>Spare Parts Management</a:t>
            </a:r>
          </a:p>
        </p:txBody>
      </p:sp>
      <p:pic>
        <p:nvPicPr>
          <p:cNvPr id="5" name="Picture 4" descr="07_spare_p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4613141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1097280"/>
            <a:ext cx="3657600" cy="5303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2801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3D91"/>
                </a:solidFill>
              </a:defRPr>
            </a:pPr>
            <a:r>
              <a:t>功能亮点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8288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备件库存管理：编号、名称、规格、库存数量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出入库流水记录，追溯每一笔变动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设备易损件清单关联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低库存预警提醒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工艺文件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0CAF9"/>
                </a:solidFill>
              </a:defRPr>
            </a:pPr>
            <a:r>
              <a:t>Process Documents</a:t>
            </a:r>
          </a:p>
        </p:txBody>
      </p:sp>
      <p:pic>
        <p:nvPicPr>
          <p:cNvPr id="5" name="Picture 4" descr="08_process_d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4613141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1097280"/>
            <a:ext cx="3657600" cy="5303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2801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3D91"/>
                </a:solidFill>
              </a:defRPr>
            </a:pPr>
            <a:r>
              <a:t>功能亮点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8288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两大分类：指导性文件 + 作业记录文件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指导性文件版本管理：草稿→生效→作废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作业记录支持 PDF 附件 + 结构化电子表单双模式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电子表单一键查看填写详情 + 导出 JSON/CSV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表单模板管理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0CAF9"/>
                </a:solidFill>
              </a:defRPr>
            </a:pPr>
            <a:r>
              <a:t>Form Template Manager</a:t>
            </a:r>
          </a:p>
        </p:txBody>
      </p:sp>
      <p:pic>
        <p:nvPicPr>
          <p:cNvPr id="5" name="Picture 4" descr="02_equip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4613141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1097280"/>
            <a:ext cx="3657600" cy="5303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2801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3D91"/>
                </a:solidFill>
              </a:defRPr>
            </a:pPr>
            <a:r>
              <a:t>功能亮点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8288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管理员定义模板：字段(9种类型)/选项/单位/范围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支持上传 PDF/Excel 参考模板文件供填写时对照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模板分类：作业记录类 / 通用表单类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启用/停用控制，仅启用模板可生成记录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电子表单填写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0CAF9"/>
                </a:solidFill>
              </a:defRPr>
            </a:pPr>
            <a:r>
              <a:t>Structured Form Filling</a:t>
            </a:r>
          </a:p>
        </p:txBody>
      </p:sp>
      <p:pic>
        <p:nvPicPr>
          <p:cNvPr id="5" name="Picture 4" descr="02_equip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4613141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1097280"/>
            <a:ext cx="3657600" cy="5303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2801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3D91"/>
                </a:solidFill>
              </a:defRPr>
            </a:pPr>
            <a:r>
              <a:t>功能亮点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8288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作业记录页「新建电子表单」：选模板→动态渲染→填写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已有结构化记录：点击「填写」按钮继续编辑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草稿 / 已提交 / 已作废 三态流转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元数据：关联机台、批次、班次、生产日期自动归档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文控系统 - 审批链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0CAF9"/>
                </a:solidFill>
              </a:defRPr>
            </a:pPr>
            <a:r>
              <a:t>Document Control - Approval Chain</a:t>
            </a:r>
          </a:p>
        </p:txBody>
      </p:sp>
      <p:pic>
        <p:nvPicPr>
          <p:cNvPr id="5" name="Picture 4" descr="08_process_d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4613141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1097280"/>
            <a:ext cx="3657600" cy="5303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2801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3D91"/>
                </a:solidFill>
              </a:defRPr>
            </a:pPr>
            <a:r>
              <a:t>功能亮点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8288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三级电子签名：编制提交→审核→批准生效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每次签署需二次密码校验 + SHA256 签名指纹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状态机白名单：草稿→审核中→生效→作废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驳回路径：退回草稿 + 强制填写原因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文控系统 - 受控管理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0CAF9"/>
                </a:solidFill>
              </a:defRPr>
            </a:pPr>
            <a:r>
              <a:t>Document Control - Distribution</a:t>
            </a:r>
          </a:p>
        </p:txBody>
      </p:sp>
      <p:pic>
        <p:nvPicPr>
          <p:cNvPr id="5" name="Picture 4" descr="08_process_d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4613141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1097280"/>
            <a:ext cx="3657600" cy="5303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2801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3D91"/>
                </a:solidFill>
              </a:defRPr>
            </a:pPr>
            <a:r>
              <a:t>功能亮点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8288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修订记录：字段级 before/after 对比 + 变更原因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分发收回台账：USER/DEPT 批量分发 + 收回记录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PDF 下载自动加盖受控章（编号+状态+用户+日期）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复审周期告警：30 天内到期 / 已过期 Badge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文控系统 - 表单审核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0CAF9"/>
                </a:solidFill>
              </a:defRPr>
            </a:pPr>
            <a:r>
              <a:t>Document Control - Form Audit</a:t>
            </a:r>
          </a:p>
        </p:txBody>
      </p:sp>
      <p:pic>
        <p:nvPicPr>
          <p:cNvPr id="5" name="Picture 4" descr="08_process_d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4613141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1097280"/>
            <a:ext cx="3657600" cy="5303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2801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3D91"/>
                </a:solidFill>
              </a:defRPr>
            </a:pPr>
            <a:r>
              <a:t>功能亮点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8288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表单审核锁定：已审核记录禁止原地修改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附加修正流程：PENDING→APPROVED + 密码校验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记录原值/修正值/修正原因全链路追溯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QA 角色权限：独立于工艺员，审核批准分离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OEE 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0CAF9"/>
                </a:solidFill>
              </a:defRPr>
            </a:pPr>
            <a:r>
              <a:t>OEE Analysis</a:t>
            </a:r>
          </a:p>
        </p:txBody>
      </p:sp>
      <p:pic>
        <p:nvPicPr>
          <p:cNvPr id="5" name="Picture 4" descr="09_o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4613141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1097280"/>
            <a:ext cx="3657600" cy="5303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2801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3D91"/>
                </a:solidFill>
              </a:defRPr>
            </a:pPr>
            <a:r>
              <a:t>功能亮点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8288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设备综合效率统计（可用性 × 性能 × 质量）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按日/周/月维度趋势图展示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设备对比分析视图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OEE 组成拆解，瓶颈定位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品管工具 (8D/FMEA)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0CAF9"/>
                </a:solidFill>
              </a:defRPr>
            </a:pPr>
            <a:r>
              <a:t>Quality Tools</a:t>
            </a:r>
          </a:p>
        </p:txBody>
      </p:sp>
      <p:pic>
        <p:nvPicPr>
          <p:cNvPr id="5" name="Picture 4" descr="10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4613141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1097280"/>
            <a:ext cx="3657600" cy="5303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2801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3D91"/>
                </a:solidFill>
              </a:defRPr>
            </a:pPr>
            <a:r>
              <a:t>功能亮点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8288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8D 报告：结构化问题分析与解决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FMEA 分析：失效模式与影响分析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可靠性指标：MTBF / MTTR 统计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按设备关联品质事件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环境核查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0CAF9"/>
                </a:solidFill>
              </a:defRPr>
            </a:pPr>
            <a:r>
              <a:t>Environment Monitoring</a:t>
            </a:r>
          </a:p>
        </p:txBody>
      </p:sp>
      <p:pic>
        <p:nvPicPr>
          <p:cNvPr id="5" name="Picture 4" descr="11_enviro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4613141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1097280"/>
            <a:ext cx="3657600" cy="5303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2801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3D91"/>
                </a:solidFill>
              </a:defRPr>
            </a:pPr>
            <a:r>
              <a:t>功能亮点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8288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温湿度、洁净度等环境参数记录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按时间段查询历史数据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异常数据自动标记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支持按区域筛选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人员管理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0CAF9"/>
                </a:solidFill>
              </a:defRPr>
            </a:pPr>
            <a:r>
              <a:t>Personnel Management</a:t>
            </a:r>
          </a:p>
        </p:txBody>
      </p:sp>
      <p:pic>
        <p:nvPicPr>
          <p:cNvPr id="5" name="Picture 4" descr="12_perso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4613141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1097280"/>
            <a:ext cx="3657600" cy="5303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2801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3D91"/>
                </a:solidFill>
              </a:defRPr>
            </a:pPr>
            <a:r>
              <a:t>功能亮点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8288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资质考核：设备操作等级认证（主操作/副操作/培训中）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技能矩阵：人员与设备技能匹配一览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培训计划：计划制定与执行跟踪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资质到期自动提醒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资产管理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0CAF9"/>
                </a:solidFill>
              </a:defRPr>
            </a:pPr>
            <a:r>
              <a:t>Asset Management</a:t>
            </a:r>
          </a:p>
        </p:txBody>
      </p:sp>
      <p:pic>
        <p:nvPicPr>
          <p:cNvPr id="5" name="Picture 4" descr="13_as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4613141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1097280"/>
            <a:ext cx="3657600" cy="5303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2801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3D91"/>
                </a:solidFill>
              </a:defRPr>
            </a:pPr>
            <a:r>
              <a:t>功能亮点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8288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资产盘点：创建盘点计划，逐项核查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调拨报废申请：资产变动流程管理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盘点进度可视化（如 10/10 完成）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盘点历史可追溯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安全加固 &amp; 灾备方案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0CAF9"/>
                </a:solidFill>
              </a:defRPr>
            </a:pPr>
            <a:r>
              <a:t>Security &amp; Disaster Recovery</a:t>
            </a:r>
          </a:p>
        </p:txBody>
      </p:sp>
      <p:pic>
        <p:nvPicPr>
          <p:cNvPr id="5" name="Picture 4" descr="14_system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4613141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1097280"/>
            <a:ext cx="3657600" cy="5303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2801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3D91"/>
                </a:solidFill>
              </a:defRPr>
            </a:pPr>
            <a:r>
              <a:t>功能亮点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8288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局域网安全：密码策略/账户锁定/JWT双令牌/IP白名单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3-2-1 灾备：AES加密 + NAS异地副本 + U盘冷备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备份还原烟雾测试（每次备份都知道能不能还原）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敏感操作审计日志（登录/改密/恢复等）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服务守护 &amp; 自启动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0CAF9"/>
                </a:solidFill>
              </a:defRPr>
            </a:pPr>
            <a:r>
              <a:t>Service Robustness</a:t>
            </a:r>
          </a:p>
        </p:txBody>
      </p:sp>
      <p:pic>
        <p:nvPicPr>
          <p:cNvPr id="5" name="Picture 4" descr="14_system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4613141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1097280"/>
            <a:ext cx="3657600" cy="5303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2801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3D91"/>
                </a:solidFill>
              </a:defRPr>
            </a:pPr>
            <a:r>
              <a:t>功能亮点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8288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4 套守护方案：systemd / NSSM / Docker / 看门狗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开机自启：systemd WantedBy / NSSM 延迟启动 / cron @reboot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崩溃自重启：on-failure / NSSM restart / watchdog tick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健康检查兜底：每 2 分钟检测，连续失败 3 次自动重启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系统配置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0CAF9"/>
                </a:solidFill>
              </a:defRPr>
            </a:pPr>
            <a:r>
              <a:t>System Configuration</a:t>
            </a:r>
          </a:p>
        </p:txBody>
      </p:sp>
      <p:pic>
        <p:nvPicPr>
          <p:cNvPr id="5" name="Picture 4" descr="14_system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4613141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1097280"/>
            <a:ext cx="3657600" cy="5303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2801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3D91"/>
                </a:solidFill>
              </a:defRPr>
            </a:pPr>
            <a:r>
              <a:t>功能亮点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8288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字典管理：自定义厂区、区域、状态等选项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角色权限：精细化角色权限矩阵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用户管理：账号创建、强制改密、账户解锁</a:t>
            </a:r>
          </a:p>
          <a:p>
            <a:pPr>
              <a:lnSpc>
                <a:spcPts val="140"/>
              </a:lnSpc>
              <a:spcAft>
                <a:spcPts val="1200"/>
              </a:spcAft>
              <a:defRPr sz="1300">
                <a:solidFill>
                  <a:srgbClr val="1A1A2E"/>
                </a:solidFill>
              </a:defRPr>
            </a:pPr>
            <a:r>
              <a:t>  定时备份计划、一键备份/加密/恢复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4FC3F7"/>
                </a:solidFill>
              </a:defRPr>
            </a:pPr>
            <a:r>
              <a:t>FastAPI  +  Vue 3  +  Element Plus  +  SQLite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0CAF9"/>
                </a:solidFill>
              </a:defRPr>
            </a:pPr>
            <a:r>
              <a:t>默认账号：admin / admin123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